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381000"/>
            <a:ext cx="5715000" cy="6096000"/>
          </a:xfrm>
          <a:prstGeom prst="rect">
            <a:avLst/>
          </a:prstGeom>
          <a:solidFill>
            <a:srgbClr val="E85D4C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381000"/>
            <a:ext cx="5715000" cy="6096000"/>
          </a:xfrm>
          <a:prstGeom prst="rect">
            <a:avLst/>
          </a:prstGeom>
          <a:pattFill prst="ltUpDiag">
            <a:fgClr>
              <a:srgbClr val="FFFF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0" y="5715000"/>
            <a:ext cx="3810000" cy="1143000"/>
          </a:xfrm>
          <a:prstGeom prst="rect">
            <a:avLst/>
          </a:prstGeom>
          <a:gradFill>
            <a:gsLst>
              <a:gs pos="0">
                <a:srgbClr val="E85D4C">
                  <a:alpha val="30000"/>
                </a:srgbClr>
              </a:gs>
              <a:gs pos="100000">
                <a:srgbClr val="E85D4C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714500" y="1905000"/>
            <a:ext cx="3048000" cy="3048000"/>
          </a:xfrm>
          <a:prstGeom prst="ellipse">
            <a:avLst/>
          </a:prstGeom>
          <a:noFill/>
          <a:ln w="57150">
            <a:solidFill>
              <a:srgbClr val="FFFFFF">
                <a:alpha val="25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476500" y="2667000"/>
            <a:ext cx="1524000" cy="15240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1143000" y="1143000"/>
            <a:ext cx="4191000" cy="4572000"/>
          </a:xfrm>
          <a:custGeom>
            <a:avLst/>
            <a:gdLst/>
            <a:ahLst/>
            <a:cxnLst/>
            <a:rect l="l" t="t" r="r" b="b"/>
            <a:pathLst>
              <a:path w="4191000" h="4572000">
                <a:moveTo>
                  <a:pt x="0" y="0"/>
                </a:moveTo>
                <a:lnTo>
                  <a:pt x="4191000" y="4572000"/>
                </a:lnTo>
              </a:path>
            </a:pathLst>
          </a:custGeom>
          <a:noFill/>
          <a:ln w="19050">
            <a:solidFill>
              <a:srgbClr val="FFFFFF">
                <a:alpha val="1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1143000" y="1143000"/>
            <a:ext cx="4191000" cy="4572000"/>
          </a:xfrm>
          <a:custGeom>
            <a:avLst/>
            <a:gdLst/>
            <a:ahLst/>
            <a:cxnLst/>
            <a:rect l="l" t="t" r="r" b="b"/>
            <a:pathLst>
              <a:path w="4191000" h="4572000">
                <a:moveTo>
                  <a:pt x="4191000" y="0"/>
                </a:moveTo>
                <a:lnTo>
                  <a:pt x="0" y="4572000"/>
                </a:lnTo>
              </a:path>
            </a:pathLst>
          </a:custGeom>
          <a:noFill/>
          <a:ln w="19050">
            <a:solidFill>
              <a:srgbClr val="FFFFFF">
                <a:alpha val="1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038350" y="2038350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4324350" y="2038350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2038350" y="4705350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4324350" y="4705350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181350" y="3371850"/>
            <a:ext cx="114300" cy="114300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32328" y="9525"/>
            <a:ext cx="5412343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COFFEE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38311" y="5897880"/>
            <a:ext cx="120037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2025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27470" y="2055495"/>
            <a:ext cx="427648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2025 中国 Z 世代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27470" y="2722245"/>
            <a:ext cx="4467606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现制咖啡消费调研</a:t>
            </a:r>
          </a:p>
        </p:txBody>
      </p:sp>
      <p:sp>
        <p:nvSpPr>
          <p:cNvPr id="20" name="Line 20"/>
          <p:cNvSpPr/>
          <p:nvPr/>
        </p:nvSpPr>
        <p:spPr>
          <a:xfrm>
            <a:off x="6477000" y="352425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57150" cap="rnd">
            <a:solidFill>
              <a:srgbClr val="E85D4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454140" y="3901440"/>
            <a:ext cx="14696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85D4C"/>
                </a:solidFill>
                <a:latin typeface="Arial"/>
                <a:ea typeface="Microsoft YaHei"/>
                <a:cs typeface="Arial"/>
              </a:rPr>
              <a:t>2025 年 5 月</a:t>
            </a:r>
          </a:p>
        </p:txBody>
      </p:sp>
      <p:sp>
        <p:nvSpPr>
          <p:cNvPr id="22" name="Line 22"/>
          <p:cNvSpPr/>
          <p:nvPr/>
        </p:nvSpPr>
        <p:spPr>
          <a:xfrm>
            <a:off x="6477000" y="59055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3A5A7F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477000" y="4762500"/>
            <a:ext cx="381000" cy="1143000"/>
          </a:xfrm>
          <a:prstGeom prst="roundRect">
            <a:avLst>
              <a:gd name="adj" fmla="val 10000"/>
            </a:avLst>
          </a:prstGeom>
          <a:solidFill>
            <a:srgbClr val="E85D4C">
              <a:alpha val="9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580656" y="598265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DB5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048500" y="5143500"/>
            <a:ext cx="381000" cy="762000"/>
          </a:xfrm>
          <a:prstGeom prst="roundRect">
            <a:avLst>
              <a:gd name="adj" fmla="val 10000"/>
            </a:avLst>
          </a:prstGeom>
          <a:solidFill>
            <a:srgbClr val="3A5A7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134654" y="5982652"/>
            <a:ext cx="2086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DB5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0" y="4905375"/>
            <a:ext cx="381000" cy="1000125"/>
          </a:xfrm>
          <a:prstGeom prst="roundRect">
            <a:avLst>
              <a:gd name="adj" fmla="val 10000"/>
            </a:avLst>
          </a:prstGeom>
          <a:solidFill>
            <a:srgbClr val="3A5A7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706154" y="5982652"/>
            <a:ext cx="2086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DB5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4381500"/>
            <a:ext cx="381000" cy="1524000"/>
          </a:xfrm>
          <a:prstGeom prst="roundRect">
            <a:avLst>
              <a:gd name="adj" fmla="val 10000"/>
            </a:avLst>
          </a:prstGeom>
          <a:solidFill>
            <a:srgbClr val="E85D4C">
              <a:alpha val="9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277654" y="5982652"/>
            <a:ext cx="2086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DB5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5334000"/>
            <a:ext cx="381000" cy="571500"/>
          </a:xfrm>
          <a:prstGeom prst="roundRect">
            <a:avLst>
              <a:gd name="adj" fmla="val 10000"/>
            </a:avLst>
          </a:prstGeom>
          <a:solidFill>
            <a:srgbClr val="3A5A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849154" y="5982652"/>
            <a:ext cx="2086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DB5"/>
                </a:solidFill>
                <a:latin typeface="Arial"/>
                <a:ea typeface="Microsoft YaHei"/>
                <a:cs typeface="Arial"/>
              </a:rPr>
              <a:t>Q5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334500" y="4572000"/>
            <a:ext cx="381000" cy="1333500"/>
          </a:xfrm>
          <a:prstGeom prst="roundRect">
            <a:avLst>
              <a:gd name="adj" fmla="val 10000"/>
            </a:avLst>
          </a:prstGeom>
          <a:solidFill>
            <a:srgbClr val="3A5A7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420654" y="5982652"/>
            <a:ext cx="2086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DB5"/>
                </a:solidFill>
                <a:latin typeface="Arial"/>
                <a:ea typeface="Microsoft YaHei"/>
                <a:cs typeface="Arial"/>
              </a:rPr>
              <a:t>Q6</a:t>
            </a:r>
          </a:p>
        </p:txBody>
      </p:sp>
      <p:sp>
        <p:nvSpPr>
          <p:cNvPr id="35" name="Freeform 35"/>
          <p:cNvSpPr/>
          <p:nvPr/>
        </p:nvSpPr>
        <p:spPr>
          <a:xfrm>
            <a:off x="6667500" y="4191000"/>
            <a:ext cx="2857500" cy="1968500"/>
          </a:xfrm>
          <a:custGeom>
            <a:avLst/>
            <a:gdLst/>
            <a:ahLst/>
            <a:cxnLst/>
            <a:rect l="l" t="t" r="r" b="b"/>
            <a:pathLst>
              <a:path w="2857500" h="1968500">
                <a:moveTo>
                  <a:pt x="0" y="571500"/>
                </a:moveTo>
                <a:cubicBezTo>
                  <a:pt x="127000" y="825500"/>
                  <a:pt x="317500" y="952500"/>
                  <a:pt x="571500" y="952500"/>
                </a:cubicBezTo>
                <a:cubicBezTo>
                  <a:pt x="825500" y="952500"/>
                  <a:pt x="1016000" y="873125"/>
                  <a:pt x="1143000" y="714375"/>
                </a:cubicBezTo>
                <a:cubicBezTo>
                  <a:pt x="1270000" y="555625"/>
                  <a:pt x="1460500" y="381000"/>
                  <a:pt x="1714500" y="190500"/>
                </a:cubicBezTo>
                <a:cubicBezTo>
                  <a:pt x="1968500" y="0"/>
                  <a:pt x="2159000" y="317500"/>
                  <a:pt x="2286000" y="1143000"/>
                </a:cubicBezTo>
                <a:cubicBezTo>
                  <a:pt x="2413000" y="1968500"/>
                  <a:pt x="2603500" y="1714500"/>
                  <a:pt x="2857500" y="381000"/>
                </a:cubicBez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  <a:custDash>
              <a:ds d="300000" sp="300000"/>
            </a:custDash>
          </a:ln>
        </p:spPr>
      </p:sp>
      <p:sp>
        <p:nvSpPr>
          <p:cNvPr id="36" name="Rectangle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0">
            <a:solidFill>
              <a:srgbClr val="1E3A5F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1F7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85D4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6200"/>
            <a:ext cx="12192000" cy="9525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2D5A8E"/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5715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9615" y="410528"/>
            <a:ext cx="256408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调研背景与方法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6760" y="784860"/>
            <a:ext cx="26308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8C9DE"/>
                </a:solidFill>
                <a:latin typeface="Segoe UI"/>
                <a:ea typeface="Microsoft YaHei"/>
                <a:cs typeface="Segoe UI"/>
              </a:rPr>
              <a:t>Survey Background &amp; Methodology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333500"/>
            <a:ext cx="4953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9" name="Rectangle 9"/>
          <p:cNvSpPr/>
          <p:nvPr/>
        </p:nvSpPr>
        <p:spPr>
          <a:xfrm>
            <a:off x="762000" y="1333500"/>
            <a:ext cx="4953000" cy="47625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619250"/>
            <a:ext cx="495300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81075" y="14763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📋 调研背景</a:t>
            </a:r>
          </a:p>
        </p:txBody>
      </p:sp>
      <p:sp>
        <p:nvSpPr>
          <p:cNvPr id="12" name="Ellipse 12"/>
          <p:cNvSpPr/>
          <p:nvPr/>
        </p:nvSpPr>
        <p:spPr>
          <a:xfrm>
            <a:off x="981075" y="2047875"/>
            <a:ext cx="95250" cy="95250"/>
          </a:xfrm>
          <a:prstGeom prst="ellipse">
            <a:avLst/>
          </a:prstGeom>
          <a:solidFill>
            <a:srgbClr val="E85D4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75385" y="2023110"/>
            <a:ext cx="2750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消费升级趋势下，消费者行为快速变化</a:t>
            </a:r>
          </a:p>
        </p:txBody>
      </p:sp>
      <p:sp>
        <p:nvSpPr>
          <p:cNvPr id="14" name="Ellipse 14"/>
          <p:cNvSpPr/>
          <p:nvPr/>
        </p:nvSpPr>
        <p:spPr>
          <a:xfrm>
            <a:off x="981075" y="2409825"/>
            <a:ext cx="95250" cy="95250"/>
          </a:xfrm>
          <a:prstGeom prst="ellipse">
            <a:avLst/>
          </a:prstGeom>
          <a:solidFill>
            <a:srgbClr val="E85D4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75385" y="238506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品牌需深入了解用户偏好以优化产品策略</a:t>
            </a:r>
          </a:p>
        </p:txBody>
      </p:sp>
      <p:sp>
        <p:nvSpPr>
          <p:cNvPr id="16" name="Ellipse 16"/>
          <p:cNvSpPr/>
          <p:nvPr/>
        </p:nvSpPr>
        <p:spPr>
          <a:xfrm>
            <a:off x="981075" y="2771775"/>
            <a:ext cx="95250" cy="95250"/>
          </a:xfrm>
          <a:prstGeom prst="ellipse">
            <a:avLst/>
          </a:prstGeom>
          <a:solidFill>
            <a:srgbClr val="E85D4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75385" y="2747010"/>
            <a:ext cx="25908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本次调研旨在获取一手用户洞察数据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477000" y="1333500"/>
            <a:ext cx="4953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19" name="Rectangle 19"/>
          <p:cNvSpPr/>
          <p:nvPr/>
        </p:nvSpPr>
        <p:spPr>
          <a:xfrm>
            <a:off x="6477000" y="1333500"/>
            <a:ext cx="4953000" cy="47625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477000" y="1619250"/>
            <a:ext cx="495300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96075" y="14763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📊 定量研究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667500" y="200025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760223" y="2102168"/>
            <a:ext cx="1338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样本量 n=1,200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67712" y="201215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覆盖全国主要城市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67712" y="2297906"/>
            <a:ext cx="9436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年龄 18-55 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7712" y="258365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在线问卷调研方式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524250"/>
            <a:ext cx="4953000" cy="29527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28" name="Rectangle 28"/>
          <p:cNvSpPr/>
          <p:nvPr/>
        </p:nvSpPr>
        <p:spPr>
          <a:xfrm>
            <a:off x="762000" y="3524250"/>
            <a:ext cx="4953000" cy="47625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3810000"/>
            <a:ext cx="495300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81075" y="3667125"/>
            <a:ext cx="15922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🏙️ 城市层级分布</a:t>
            </a:r>
          </a:p>
        </p:txBody>
      </p:sp>
      <p:sp>
        <p:nvSpPr>
          <p:cNvPr id="31" name="Line 31"/>
          <p:cNvSpPr/>
          <p:nvPr/>
        </p:nvSpPr>
        <p:spPr>
          <a:xfrm>
            <a:off x="1524000" y="4381500"/>
            <a:ext cx="9525" cy="1619250"/>
          </a:xfrm>
          <a:custGeom>
            <a:avLst/>
            <a:gdLst/>
            <a:ahLst/>
            <a:cxnLst/>
            <a:rect l="l" t="t" r="r" b="b"/>
            <a:pathLst>
              <a:path w="9525" h="1619250">
                <a:moveTo>
                  <a:pt x="0" y="0"/>
                </a:moveTo>
                <a:lnTo>
                  <a:pt x="0" y="1619250"/>
                </a:lnTo>
              </a:path>
            </a:pathLst>
          </a:custGeom>
          <a:noFill/>
          <a:ln w="19050">
            <a:solidFill>
              <a:srgbClr val="CCCCCC"/>
            </a:solidFill>
          </a:ln>
        </p:spPr>
      </p:sp>
      <p:sp>
        <p:nvSpPr>
          <p:cNvPr id="32" name="Line 32"/>
          <p:cNvSpPr/>
          <p:nvPr/>
        </p:nvSpPr>
        <p:spPr>
          <a:xfrm>
            <a:off x="1524000" y="60007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CCCCC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90054" y="59512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0%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4045" y="55225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20%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4045" y="509397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40%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905000" y="5353050"/>
            <a:ext cx="666750" cy="647700"/>
          </a:xfrm>
          <a:prstGeom prst="roundRect">
            <a:avLst>
              <a:gd name="adj" fmla="val 8824"/>
            </a:avLst>
          </a:prstGeom>
          <a:gradFill>
            <a:gsLst>
              <a:gs pos="0">
                <a:srgbClr val="E85D4C"/>
              </a:gs>
              <a:gs pos="100000">
                <a:srgbClr val="C94A3A"/>
              </a:gs>
            </a:gsLst>
            <a:lin ang="5400000" scaled="1"/>
          </a:gradFill>
          <a:ln>
            <a:noFill/>
          </a:ln>
          <a:effectLst>
            <a:outerShdw blurRad="114300" dist="2857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37" name="TextBox 37"/>
          <p:cNvSpPr txBox="1"/>
          <p:nvPr/>
        </p:nvSpPr>
        <p:spPr>
          <a:xfrm>
            <a:off x="2084518" y="5156835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5D4C"/>
                </a:solidFill>
                <a:latin typeface="Segoe UI"/>
                <a:ea typeface="Microsoft YaHei"/>
                <a:cs typeface="Segoe UI"/>
              </a:rPr>
              <a:t>40%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945005" y="61064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一线城市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76629" y="6302216"/>
            <a:ext cx="323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n=480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952750" y="5434012"/>
            <a:ext cx="666750" cy="566738"/>
          </a:xfrm>
          <a:prstGeom prst="roundRect">
            <a:avLst>
              <a:gd name="adj" fmla="val 10084"/>
            </a:avLst>
          </a:prstGeom>
          <a:gradFill>
            <a:gsLst>
              <a:gs pos="0">
                <a:srgbClr val="F4A261"/>
              </a:gs>
              <a:gs pos="100000">
                <a:srgbClr val="E08E3D"/>
              </a:gs>
            </a:gsLst>
            <a:lin ang="5400000" scaled="1"/>
          </a:gradFill>
          <a:ln>
            <a:noFill/>
          </a:ln>
          <a:effectLst>
            <a:outerShdw blurRad="114300" dist="2857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41" name="TextBox 41"/>
          <p:cNvSpPr txBox="1"/>
          <p:nvPr/>
        </p:nvSpPr>
        <p:spPr>
          <a:xfrm>
            <a:off x="3132268" y="5237798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08E3D"/>
                </a:solidFill>
                <a:latin typeface="Segoe UI"/>
                <a:ea typeface="Microsoft YaHei"/>
                <a:cs typeface="Segoe UI"/>
              </a:rPr>
              <a:t>35%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062764" y="6106478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新一线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24379" y="6302216"/>
            <a:ext cx="323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n=420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000500" y="5595938"/>
            <a:ext cx="666750" cy="404812"/>
          </a:xfrm>
          <a:prstGeom prst="roundRect">
            <a:avLst>
              <a:gd name="adj" fmla="val 14118"/>
            </a:avLst>
          </a:prstGeom>
          <a:gradFill>
            <a:gsLst>
              <a:gs pos="0">
                <a:srgbClr val="2A9D8F"/>
              </a:gs>
              <a:gs pos="100000">
                <a:srgbClr val="1E7A6F"/>
              </a:gs>
            </a:gsLst>
            <a:lin ang="5400000" scaled="1"/>
          </a:gradFill>
          <a:ln>
            <a:noFill/>
          </a:ln>
          <a:effectLst>
            <a:outerShdw blurRad="114300" dist="2857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45" name="TextBox 45"/>
          <p:cNvSpPr txBox="1"/>
          <p:nvPr/>
        </p:nvSpPr>
        <p:spPr>
          <a:xfrm>
            <a:off x="4180018" y="5399722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7A6F"/>
                </a:solidFill>
                <a:latin typeface="Segoe UI"/>
                <a:ea typeface="Microsoft YaHei"/>
                <a:cs typeface="Segoe UI"/>
              </a:rPr>
              <a:t>25%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40505" y="61064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二线城市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72129" y="6302216"/>
            <a:ext cx="323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n=300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477000" y="3524250"/>
            <a:ext cx="4953000" cy="29527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49" name="Rectangle 49"/>
          <p:cNvSpPr/>
          <p:nvPr/>
        </p:nvSpPr>
        <p:spPr>
          <a:xfrm>
            <a:off x="6477000" y="3524250"/>
            <a:ext cx="4953000" cy="47625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477000" y="3810000"/>
            <a:ext cx="495300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696075" y="366712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🎯 定性研究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762750" y="4191000"/>
            <a:ext cx="4381500" cy="476250"/>
          </a:xfrm>
          <a:prstGeom prst="roundRect">
            <a:avLst>
              <a:gd name="adj" fmla="val 16000"/>
            </a:avLst>
          </a:prstGeom>
          <a:solidFill>
            <a:srgbClr val="F0F4F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937058" y="4339114"/>
            <a:ext cx="71969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6 城深访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762750" y="4857750"/>
            <a:ext cx="1333500" cy="381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85D4C"/>
              </a:gs>
              <a:gs pos="100000">
                <a:srgbClr val="C94A3A"/>
              </a:gs>
            </a:gsLst>
            <a:lin ang="5400000" scaled="1"/>
          </a:gra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257693" y="4974431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北京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286750" y="4857750"/>
            <a:ext cx="1333500" cy="381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85D4C"/>
              </a:gs>
              <a:gs pos="100000">
                <a:srgbClr val="C94A3A"/>
              </a:gs>
            </a:gsLst>
            <a:lin ang="5400000" scaled="1"/>
          </a:gra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781693" y="4974431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上海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810750" y="4857750"/>
            <a:ext cx="1333500" cy="381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85D4C"/>
              </a:gs>
              <a:gs pos="100000">
                <a:srgbClr val="C94A3A"/>
              </a:gs>
            </a:gsLst>
            <a:lin ang="5400000" scaled="1"/>
          </a:gra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0305693" y="4974431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广州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762750" y="5334000"/>
            <a:ext cx="1333500" cy="381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4A261"/>
              </a:gs>
              <a:gs pos="100000">
                <a:srgbClr val="E08E3D"/>
              </a:gs>
            </a:gsLst>
            <a:lin ang="5400000" scaled="1"/>
          </a:gra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7257693" y="5450681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成都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286750" y="5334000"/>
            <a:ext cx="1333500" cy="381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4A261"/>
              </a:gs>
              <a:gs pos="100000">
                <a:srgbClr val="E08E3D"/>
              </a:gs>
            </a:gsLst>
            <a:lin ang="5400000" scaled="1"/>
          </a:gra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781693" y="5450681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杭州</a:t>
            </a:r>
          </a:p>
        </p:txBody>
      </p:sp>
      <p:sp>
        <p:nvSpPr>
          <p:cNvPr id="64" name="Rectangle 64"/>
          <p:cNvSpPr/>
          <p:nvPr/>
        </p:nvSpPr>
        <p:spPr>
          <a:xfrm>
            <a:off x="9810750" y="5334000"/>
            <a:ext cx="1333500" cy="381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2A9D8F"/>
              </a:gs>
              <a:gs pos="100000">
                <a:srgbClr val="1E7A6F"/>
              </a:gs>
            </a:gsLst>
            <a:lin ang="5400000" scaled="1"/>
          </a:gra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10305693" y="5450681"/>
            <a:ext cx="343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武汉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750368" y="6085999"/>
            <a:ext cx="18904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每位受访者深度访谈 60-90 分钟</a:t>
            </a:r>
          </a:p>
        </p:txBody>
      </p:sp>
      <p:sp>
        <p:nvSpPr>
          <p:cNvPr id="67" name="Line 67"/>
          <p:cNvSpPr/>
          <p:nvPr/>
        </p:nvSpPr>
        <p:spPr>
          <a:xfrm>
            <a:off x="762000" y="6524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0D8E4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751522" y="6635591"/>
            <a:ext cx="19461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AAAAA"/>
                </a:solidFill>
                <a:latin typeface="Segoe UI"/>
                <a:ea typeface="Microsoft YaHei"/>
                <a:cs typeface="Segoe UI"/>
              </a:rPr>
              <a:t>© 2025 市场调研报告 · 调研背景与方法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298507" y="663559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AAAAAA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2E8F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762000"/>
            <a:ext cx="3429000" cy="3429000"/>
          </a:xfrm>
          <a:prstGeom prst="ellipse">
            <a:avLst/>
          </a:prstGeom>
          <a:solidFill>
            <a:srgbClr val="E85D4C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4476750"/>
            <a:ext cx="4762500" cy="4762500"/>
          </a:xfrm>
          <a:prstGeom prst="ellipse">
            <a:avLst/>
          </a:prstGeom>
          <a:solidFill>
            <a:srgbClr val="1E3A5F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1047750" y="5048250"/>
            <a:ext cx="2857500" cy="2857500"/>
          </a:xfrm>
          <a:prstGeom prst="ellipse">
            <a:avLst/>
          </a:prstGeom>
          <a:solidFill>
            <a:srgbClr val="1E3A5F">
              <a:alpha val="2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2382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381000"/>
            <a:ext cx="7620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5D4C"/>
              </a:gs>
              <a:gs pos="100000">
                <a:srgbClr val="F97316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88645" y="42672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样本画像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4838" y="8310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本次调研目标受众特征分析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524000"/>
            <a:ext cx="3429000" cy="4762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>
            <a:outerShdw blurRad="285750" dist="76200" dir="5400000" algn="ctr" rotWithShape="0">
              <a:srgbClr val="1E3A5F">
                <a:alpha val="4500"/>
              </a:srgbClr>
            </a:outerShdw>
          </a:effectLst>
        </p:spPr>
      </p:sp>
      <p:sp>
        <p:nvSpPr>
          <p:cNvPr id="11" name="Rectangle 11"/>
          <p:cNvSpPr/>
          <p:nvPr/>
        </p:nvSpPr>
        <p:spPr>
          <a:xfrm>
            <a:off x="571500" y="1524000"/>
            <a:ext cx="3429000" cy="57150"/>
          </a:xfrm>
          <a:prstGeom prst="rect">
            <a:avLst/>
          </a:prstGeom>
          <a:gradFill>
            <a:gsLst>
              <a:gs pos="0">
                <a:srgbClr val="E85D4C"/>
              </a:gs>
              <a:gs pos="100000">
                <a:srgbClr val="F97316"/>
              </a:gs>
            </a:gsLst>
            <a:lin ang="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38200" y="179070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年龄分布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7720" y="2198370"/>
            <a:ext cx="201029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gradFill>
                  <a:gsLst>
                    <a:gs pos="0">
                      <a:srgbClr val="E85D4C"/>
                    </a:gs>
                    <a:gs pos="100000">
                      <a:srgbClr val="F97316"/>
                    </a:gs>
                  </a:gsLst>
                  <a:lin ang="0" scaled="1"/>
                </a:gradFill>
                <a:latin typeface="Segoe UI"/>
                <a:ea typeface="Microsoft YaHei"/>
                <a:cs typeface="Segoe UI"/>
              </a:rPr>
              <a:t>18-28岁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010" y="2823210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核心受众年龄段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38676" y="3333750"/>
            <a:ext cx="2209324" cy="1514475"/>
            <a:chOff x="838676" y="3333750"/>
            <a:chExt cx="2209324" cy="1514475"/>
          </a:xfrm>
        </p:grpSpPr>
        <p:sp>
          <p:nvSpPr>
            <p:cNvPr id="15" name="Rectangle 15"/>
            <p:cNvSpPr/>
            <p:nvPr/>
          </p:nvSpPr>
          <p:spPr>
            <a:xfrm>
              <a:off x="857250" y="4095750"/>
              <a:ext cx="285750" cy="476250"/>
            </a:xfrm>
            <a:prstGeom prst="roundRect">
              <a:avLst>
                <a:gd name="adj" fmla="val 13333"/>
              </a:avLst>
            </a:prstGeom>
            <a:solidFill>
              <a:srgbClr val="1E3A5F">
                <a:alpha val="5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8676" y="4665345"/>
              <a:ext cx="3228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18-20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333750"/>
              <a:ext cx="285750" cy="1238250"/>
            </a:xfrm>
            <a:prstGeom prst="roundRect">
              <a:avLst>
                <a:gd name="adj" fmla="val 13333"/>
              </a:avLst>
            </a:prstGeom>
            <a:solidFill>
              <a:srgbClr val="E85D4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4926" y="4665345"/>
              <a:ext cx="3228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21-25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809750" y="3524250"/>
              <a:ext cx="285750" cy="1047750"/>
            </a:xfrm>
            <a:prstGeom prst="roundRect">
              <a:avLst>
                <a:gd name="adj" fmla="val 13333"/>
              </a:avLst>
            </a:prstGeom>
            <a:solidFill>
              <a:srgbClr val="E85D4C">
                <a:alpha val="75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76174" y="4665345"/>
              <a:ext cx="3529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26-28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86000" y="4191000"/>
              <a:ext cx="285750" cy="381000"/>
            </a:xfrm>
            <a:prstGeom prst="roundRect">
              <a:avLst>
                <a:gd name="adj" fmla="val 13333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52424" y="4665345"/>
              <a:ext cx="3529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29-35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762250" y="438150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94683" y="46653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36+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44868" y="5228749"/>
            <a:ext cx="15004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* 18-28岁群体占主导地位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381500" y="1524000"/>
            <a:ext cx="3429000" cy="4762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>
            <a:outerShdw blurRad="285750" dist="76200" dir="5400000" algn="ctr" rotWithShape="0">
              <a:srgbClr val="1E3A5F">
                <a:alpha val="4500"/>
              </a:srgbClr>
            </a:outerShdw>
          </a:effectLst>
        </p:spPr>
      </p:sp>
      <p:sp>
        <p:nvSpPr>
          <p:cNvPr id="28" name="TextBox 28"/>
          <p:cNvSpPr txBox="1"/>
          <p:nvPr/>
        </p:nvSpPr>
        <p:spPr>
          <a:xfrm>
            <a:off x="4648200" y="179070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性别分布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652010" y="2251710"/>
            <a:ext cx="2887980" cy="481965"/>
            <a:chOff x="4652010" y="2251710"/>
            <a:chExt cx="2887980" cy="481965"/>
          </a:xfrm>
        </p:grpSpPr>
        <p:sp>
          <p:nvSpPr>
            <p:cNvPr id="29" name="TextBox 29"/>
            <p:cNvSpPr txBox="1"/>
            <p:nvPr/>
          </p:nvSpPr>
          <p:spPr>
            <a:xfrm>
              <a:off x="4652010" y="2251710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男性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2275" y="2251710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52%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67250" y="2524125"/>
              <a:ext cx="2857500" cy="20955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67250" y="2524125"/>
              <a:ext cx="1485900" cy="20955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019800" y="2571750"/>
              <a:ext cx="114300" cy="11430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4652010" y="3013710"/>
            <a:ext cx="2887980" cy="481965"/>
            <a:chOff x="4652010" y="3013710"/>
            <a:chExt cx="2887980" cy="481965"/>
          </a:xfrm>
        </p:grpSpPr>
        <p:sp>
          <p:nvSpPr>
            <p:cNvPr id="35" name="TextBox 35"/>
            <p:cNvSpPr txBox="1"/>
            <p:nvPr/>
          </p:nvSpPr>
          <p:spPr>
            <a:xfrm>
              <a:off x="4652010" y="3013710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女性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2275" y="3013710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E85D4C"/>
                  </a:solidFill>
                  <a:latin typeface="Segoe UI"/>
                  <a:ea typeface="Microsoft YaHei"/>
                  <a:cs typeface="Segoe UI"/>
                </a:rPr>
                <a:t>48%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667250" y="3286125"/>
              <a:ext cx="2857500" cy="20955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667250" y="3286125"/>
              <a:ext cx="1371600" cy="209550"/>
            </a:xfrm>
            <a:prstGeom prst="roundRect">
              <a:avLst>
                <a:gd name="adj" fmla="val 50000"/>
              </a:avLst>
            </a:prstGeom>
            <a:solidFill>
              <a:srgbClr val="E85D4C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905500" y="3333750"/>
              <a:ext cx="114300" cy="11430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4762500" y="4286250"/>
            <a:ext cx="1238250" cy="666750"/>
            <a:chOff x="4762500" y="4286250"/>
            <a:chExt cx="1238250" cy="666750"/>
          </a:xfrm>
        </p:grpSpPr>
        <p:sp>
          <p:nvSpPr>
            <p:cNvPr id="41" name="Ellipse 41"/>
            <p:cNvSpPr/>
            <p:nvPr/>
          </p:nvSpPr>
          <p:spPr>
            <a:xfrm>
              <a:off x="4762500" y="4381500"/>
              <a:ext cx="381000" cy="381000"/>
            </a:xfrm>
            <a:prstGeom prst="ellipse">
              <a:avLst/>
            </a:prstGeom>
            <a:noFill/>
            <a:ln w="28575">
              <a:solidFill>
                <a:srgbClr val="1E3A5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095875" y="4286250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0" y="142875"/>
                  </a:moveTo>
                  <a:lnTo>
                    <a:pt x="142875" y="0"/>
                  </a:lnTo>
                  <a:moveTo>
                    <a:pt x="142875" y="0"/>
                  </a:moveTo>
                  <a:lnTo>
                    <a:pt x="66675" y="0"/>
                  </a:lnTo>
                  <a:moveTo>
                    <a:pt x="142875" y="0"/>
                  </a:moveTo>
                  <a:lnTo>
                    <a:pt x="142875" y="76200"/>
                  </a:lnTo>
                </a:path>
              </a:pathLst>
            </a:custGeom>
            <a:noFill/>
            <a:ln w="28575" cap="rnd">
              <a:solidFill>
                <a:srgbClr val="1E3A5F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5619750" y="4381500"/>
              <a:ext cx="381000" cy="381000"/>
            </a:xfrm>
            <a:prstGeom prst="ellipse">
              <a:avLst/>
            </a:prstGeom>
            <a:noFill/>
            <a:ln w="28575">
              <a:solidFill>
                <a:srgbClr val="E85D4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619750" y="476250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190500" y="0"/>
                  </a:moveTo>
                  <a:lnTo>
                    <a:pt x="190500" y="190500"/>
                  </a:lnTo>
                  <a:moveTo>
                    <a:pt x="0" y="95250"/>
                  </a:moveTo>
                  <a:lnTo>
                    <a:pt x="381000" y="95250"/>
                  </a:lnTo>
                </a:path>
              </a:pathLst>
            </a:custGeom>
            <a:noFill/>
            <a:ln w="28575" cap="rnd">
              <a:solidFill>
                <a:srgbClr val="E85D4C"/>
              </a:solidFill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4654868" y="522874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* 性别比例接近平衡，男性用户稍占优势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191500" y="1524000"/>
            <a:ext cx="3429000" cy="4762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>
            <a:outerShdw blurRad="285750" dist="76200" dir="5400000" algn="ctr" rotWithShape="0">
              <a:srgbClr val="1E3A5F">
                <a:alpha val="4500"/>
              </a:srgbClr>
            </a:outerShdw>
          </a:effectLst>
        </p:spPr>
      </p:sp>
      <p:sp>
        <p:nvSpPr>
          <p:cNvPr id="48" name="TextBox 48"/>
          <p:cNvSpPr txBox="1"/>
          <p:nvPr/>
        </p:nvSpPr>
        <p:spPr>
          <a:xfrm>
            <a:off x="8458200" y="179070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职业分布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8462010" y="2299335"/>
            <a:ext cx="2697480" cy="443865"/>
            <a:chOff x="8462010" y="2299335"/>
            <a:chExt cx="2697480" cy="443865"/>
          </a:xfrm>
        </p:grpSpPr>
        <p:sp>
          <p:nvSpPr>
            <p:cNvPr id="49" name="TextBox 49"/>
            <p:cNvSpPr txBox="1"/>
            <p:nvPr/>
          </p:nvSpPr>
          <p:spPr>
            <a:xfrm>
              <a:off x="8462010" y="229933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学生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51775" y="2299335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3B82F6"/>
                  </a:solidFill>
                  <a:latin typeface="Segoe UI"/>
                  <a:ea typeface="Microsoft YaHei"/>
                  <a:cs typeface="Segoe UI"/>
                </a:rPr>
                <a:t>38%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477250" y="2571750"/>
              <a:ext cx="2667000" cy="17145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477250" y="2571750"/>
              <a:ext cx="1013460" cy="17145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462010" y="2966085"/>
            <a:ext cx="2697480" cy="443865"/>
            <a:chOff x="8462010" y="2966085"/>
            <a:chExt cx="2697480" cy="443865"/>
          </a:xfrm>
        </p:grpSpPr>
        <p:sp>
          <p:nvSpPr>
            <p:cNvPr id="54" name="TextBox 54"/>
            <p:cNvSpPr txBox="1"/>
            <p:nvPr/>
          </p:nvSpPr>
          <p:spPr>
            <a:xfrm>
              <a:off x="8462010" y="29660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白领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51775" y="2966085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45%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477250" y="3238500"/>
              <a:ext cx="2667000" cy="17145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477250" y="3238500"/>
              <a:ext cx="1200150" cy="1714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8462010" y="3632835"/>
            <a:ext cx="2697480" cy="443865"/>
            <a:chOff x="8462010" y="3632835"/>
            <a:chExt cx="2697480" cy="443865"/>
          </a:xfrm>
        </p:grpSpPr>
        <p:sp>
          <p:nvSpPr>
            <p:cNvPr id="59" name="TextBox 59"/>
            <p:cNvSpPr txBox="1"/>
            <p:nvPr/>
          </p:nvSpPr>
          <p:spPr>
            <a:xfrm>
              <a:off x="8462010" y="363283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其他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93781" y="3632835"/>
              <a:ext cx="265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17%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77250" y="3905250"/>
              <a:ext cx="2667000" cy="17145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477250" y="3905250"/>
              <a:ext cx="453390" cy="1714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9167812" y="4691490"/>
            <a:ext cx="904798" cy="1061610"/>
            <a:chOff x="9167812" y="4691490"/>
            <a:chExt cx="904798" cy="1061610"/>
          </a:xfrm>
        </p:grpSpPr>
        <p:sp>
          <p:nvSpPr>
            <p:cNvPr id="64" name="Ellipse 64"/>
            <p:cNvSpPr/>
            <p:nvPr/>
          </p:nvSpPr>
          <p:spPr>
            <a:xfrm>
              <a:off x="9239250" y="4762500"/>
              <a:ext cx="762000" cy="762000"/>
            </a:xfrm>
            <a:prstGeom prst="ellipse">
              <a:avLst/>
            </a:prstGeom>
            <a:noFill/>
            <a:ln w="142875">
              <a:solidFill>
                <a:srgbClr val="E5E7EB"/>
              </a:solidFill>
            </a:ln>
          </p:spPr>
        </p:sp>
        <p:sp>
          <p:nvSpPr>
            <p:cNvPr id="65" name="Arc 65"/>
            <p:cNvSpPr/>
            <p:nvPr/>
          </p:nvSpPr>
          <p:spPr>
            <a:xfrm>
              <a:off x="9167812" y="4691490"/>
              <a:ext cx="882390" cy="452010"/>
            </a:xfrm>
            <a:custGeom>
              <a:avLst/>
              <a:gdLst/>
              <a:ahLst/>
              <a:cxnLst/>
              <a:rect l="l" t="t" r="r" b="b"/>
              <a:pathLst>
                <a:path w="882390" h="452010">
                  <a:moveTo>
                    <a:pt x="0" y="452010"/>
                  </a:moveTo>
                  <a:lnTo>
                    <a:pt x="2301" y="406439"/>
                  </a:lnTo>
                  <a:lnTo>
                    <a:pt x="9180" y="361333"/>
                  </a:lnTo>
                  <a:lnTo>
                    <a:pt x="20567" y="317148"/>
                  </a:lnTo>
                  <a:lnTo>
                    <a:pt x="36347" y="274335"/>
                  </a:lnTo>
                  <a:lnTo>
                    <a:pt x="56359" y="233329"/>
                  </a:lnTo>
                  <a:lnTo>
                    <a:pt x="80399" y="194548"/>
                  </a:lnTo>
                  <a:lnTo>
                    <a:pt x="108223" y="158384"/>
                  </a:lnTo>
                  <a:lnTo>
                    <a:pt x="139548" y="125208"/>
                  </a:lnTo>
                  <a:lnTo>
                    <a:pt x="174055" y="95355"/>
                  </a:lnTo>
                  <a:lnTo>
                    <a:pt x="211393" y="69129"/>
                  </a:lnTo>
                  <a:lnTo>
                    <a:pt x="251184" y="46798"/>
                  </a:lnTo>
                  <a:lnTo>
                    <a:pt x="293021" y="28588"/>
                  </a:lnTo>
                  <a:lnTo>
                    <a:pt x="336479" y="14684"/>
                  </a:lnTo>
                  <a:lnTo>
                    <a:pt x="381117" y="5229"/>
                  </a:lnTo>
                  <a:lnTo>
                    <a:pt x="426480" y="317"/>
                  </a:lnTo>
                  <a:lnTo>
                    <a:pt x="472108" y="0"/>
                  </a:lnTo>
                  <a:lnTo>
                    <a:pt x="517535" y="4280"/>
                  </a:lnTo>
                  <a:lnTo>
                    <a:pt x="562300" y="13113"/>
                  </a:lnTo>
                  <a:lnTo>
                    <a:pt x="605948" y="26411"/>
                  </a:lnTo>
                  <a:lnTo>
                    <a:pt x="648034" y="44037"/>
                  </a:lnTo>
                  <a:lnTo>
                    <a:pt x="688131" y="65813"/>
                  </a:lnTo>
                  <a:lnTo>
                    <a:pt x="725831" y="91516"/>
                  </a:lnTo>
                  <a:lnTo>
                    <a:pt x="760750" y="120886"/>
                  </a:lnTo>
                  <a:lnTo>
                    <a:pt x="792534" y="153624"/>
                  </a:lnTo>
                  <a:lnTo>
                    <a:pt x="820858" y="189396"/>
                  </a:lnTo>
                  <a:lnTo>
                    <a:pt x="845435" y="227840"/>
                  </a:lnTo>
                  <a:lnTo>
                    <a:pt x="866016" y="268563"/>
                  </a:lnTo>
                  <a:lnTo>
                    <a:pt x="882390" y="311152"/>
                  </a:lnTo>
                  <a:lnTo>
                    <a:pt x="746615" y="355634"/>
                  </a:lnTo>
                  <a:lnTo>
                    <a:pt x="735412" y="326494"/>
                  </a:lnTo>
                  <a:lnTo>
                    <a:pt x="721331" y="298630"/>
                  </a:lnTo>
                  <a:lnTo>
                    <a:pt x="704515" y="272327"/>
                  </a:lnTo>
                  <a:lnTo>
                    <a:pt x="685135" y="247851"/>
                  </a:lnTo>
                  <a:lnTo>
                    <a:pt x="663388" y="225451"/>
                  </a:lnTo>
                  <a:lnTo>
                    <a:pt x="639496" y="205356"/>
                  </a:lnTo>
                  <a:lnTo>
                    <a:pt x="613701" y="187770"/>
                  </a:lnTo>
                  <a:lnTo>
                    <a:pt x="586267" y="172871"/>
                  </a:lnTo>
                  <a:lnTo>
                    <a:pt x="557471" y="160811"/>
                  </a:lnTo>
                  <a:lnTo>
                    <a:pt x="527606" y="151712"/>
                  </a:lnTo>
                  <a:lnTo>
                    <a:pt x="496978" y="145668"/>
                  </a:lnTo>
                  <a:lnTo>
                    <a:pt x="465896" y="142740"/>
                  </a:lnTo>
                  <a:lnTo>
                    <a:pt x="434677" y="142957"/>
                  </a:lnTo>
                  <a:lnTo>
                    <a:pt x="403639" y="146318"/>
                  </a:lnTo>
                  <a:lnTo>
                    <a:pt x="373098" y="152787"/>
                  </a:lnTo>
                  <a:lnTo>
                    <a:pt x="343363" y="162300"/>
                  </a:lnTo>
                  <a:lnTo>
                    <a:pt x="314737" y="174760"/>
                  </a:lnTo>
                  <a:lnTo>
                    <a:pt x="287513" y="190039"/>
                  </a:lnTo>
                  <a:lnTo>
                    <a:pt x="261965" y="207983"/>
                  </a:lnTo>
                  <a:lnTo>
                    <a:pt x="238355" y="228408"/>
                  </a:lnTo>
                  <a:lnTo>
                    <a:pt x="216922" y="251108"/>
                  </a:lnTo>
                  <a:lnTo>
                    <a:pt x="197885" y="275851"/>
                  </a:lnTo>
                  <a:lnTo>
                    <a:pt x="181436" y="302386"/>
                  </a:lnTo>
                  <a:lnTo>
                    <a:pt x="167744" y="330443"/>
                  </a:lnTo>
                  <a:lnTo>
                    <a:pt x="156947" y="359736"/>
                  </a:lnTo>
                  <a:lnTo>
                    <a:pt x="149156" y="389967"/>
                  </a:lnTo>
                  <a:lnTo>
                    <a:pt x="144449" y="420830"/>
                  </a:lnTo>
                  <a:lnTo>
                    <a:pt x="142875" y="45201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66" name="Arc 66"/>
            <p:cNvSpPr/>
            <p:nvPr/>
          </p:nvSpPr>
          <p:spPr>
            <a:xfrm>
              <a:off x="9404289" y="5002642"/>
              <a:ext cx="668321" cy="593295"/>
            </a:xfrm>
            <a:custGeom>
              <a:avLst/>
              <a:gdLst/>
              <a:ahLst/>
              <a:cxnLst/>
              <a:rect l="l" t="t" r="r" b="b"/>
              <a:pathLst>
                <a:path w="668321" h="593295">
                  <a:moveTo>
                    <a:pt x="645913" y="0"/>
                  </a:moveTo>
                  <a:lnTo>
                    <a:pt x="657767" y="43351"/>
                  </a:lnTo>
                  <a:lnTo>
                    <a:pt x="665261" y="87664"/>
                  </a:lnTo>
                  <a:lnTo>
                    <a:pt x="668321" y="132503"/>
                  </a:lnTo>
                  <a:lnTo>
                    <a:pt x="666918" y="177423"/>
                  </a:lnTo>
                  <a:lnTo>
                    <a:pt x="661066" y="221983"/>
                  </a:lnTo>
                  <a:lnTo>
                    <a:pt x="650821" y="265742"/>
                  </a:lnTo>
                  <a:lnTo>
                    <a:pt x="636286" y="308269"/>
                  </a:lnTo>
                  <a:lnTo>
                    <a:pt x="617603" y="349144"/>
                  </a:lnTo>
                  <a:lnTo>
                    <a:pt x="594957" y="387964"/>
                  </a:lnTo>
                  <a:lnTo>
                    <a:pt x="568571" y="424346"/>
                  </a:lnTo>
                  <a:lnTo>
                    <a:pt x="538706" y="457930"/>
                  </a:lnTo>
                  <a:lnTo>
                    <a:pt x="505657" y="488386"/>
                  </a:lnTo>
                  <a:lnTo>
                    <a:pt x="469749" y="515413"/>
                  </a:lnTo>
                  <a:lnTo>
                    <a:pt x="431336" y="538743"/>
                  </a:lnTo>
                  <a:lnTo>
                    <a:pt x="390799" y="558148"/>
                  </a:lnTo>
                  <a:lnTo>
                    <a:pt x="348536" y="573435"/>
                  </a:lnTo>
                  <a:lnTo>
                    <a:pt x="304966" y="584454"/>
                  </a:lnTo>
                  <a:lnTo>
                    <a:pt x="260517" y="591096"/>
                  </a:lnTo>
                  <a:lnTo>
                    <a:pt x="215628" y="593295"/>
                  </a:lnTo>
                  <a:lnTo>
                    <a:pt x="170743" y="591030"/>
                  </a:lnTo>
                  <a:lnTo>
                    <a:pt x="126303" y="584323"/>
                  </a:lnTo>
                  <a:lnTo>
                    <a:pt x="82749" y="573240"/>
                  </a:lnTo>
                  <a:lnTo>
                    <a:pt x="40509" y="557890"/>
                  </a:lnTo>
                  <a:lnTo>
                    <a:pt x="0" y="538426"/>
                  </a:lnTo>
                  <a:lnTo>
                    <a:pt x="68198" y="412878"/>
                  </a:lnTo>
                  <a:lnTo>
                    <a:pt x="95915" y="426196"/>
                  </a:lnTo>
                  <a:lnTo>
                    <a:pt x="124816" y="436698"/>
                  </a:lnTo>
                  <a:lnTo>
                    <a:pt x="154616" y="444281"/>
                  </a:lnTo>
                  <a:lnTo>
                    <a:pt x="185022" y="448870"/>
                  </a:lnTo>
                  <a:lnTo>
                    <a:pt x="215733" y="450420"/>
                  </a:lnTo>
                  <a:lnTo>
                    <a:pt x="246446" y="448915"/>
                  </a:lnTo>
                  <a:lnTo>
                    <a:pt x="276859" y="444371"/>
                  </a:lnTo>
                  <a:lnTo>
                    <a:pt x="306670" y="436832"/>
                  </a:lnTo>
                  <a:lnTo>
                    <a:pt x="335587" y="426372"/>
                  </a:lnTo>
                  <a:lnTo>
                    <a:pt x="363323" y="413095"/>
                  </a:lnTo>
                  <a:lnTo>
                    <a:pt x="389605" y="397132"/>
                  </a:lnTo>
                  <a:lnTo>
                    <a:pt x="414174" y="378640"/>
                  </a:lnTo>
                  <a:lnTo>
                    <a:pt x="436787" y="357802"/>
                  </a:lnTo>
                  <a:lnTo>
                    <a:pt x="457221" y="334823"/>
                  </a:lnTo>
                  <a:lnTo>
                    <a:pt x="475274" y="309931"/>
                  </a:lnTo>
                  <a:lnTo>
                    <a:pt x="490769" y="283370"/>
                  </a:lnTo>
                  <a:lnTo>
                    <a:pt x="503552" y="255402"/>
                  </a:lnTo>
                  <a:lnTo>
                    <a:pt x="513497" y="226305"/>
                  </a:lnTo>
                  <a:lnTo>
                    <a:pt x="520506" y="196364"/>
                  </a:lnTo>
                  <a:lnTo>
                    <a:pt x="524511" y="165876"/>
                  </a:lnTo>
                  <a:lnTo>
                    <a:pt x="525471" y="135141"/>
                  </a:lnTo>
                  <a:lnTo>
                    <a:pt x="523376" y="104462"/>
                  </a:lnTo>
                  <a:lnTo>
                    <a:pt x="518249" y="74143"/>
                  </a:lnTo>
                  <a:lnTo>
                    <a:pt x="510139" y="44481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67" name="Arc 67"/>
            <p:cNvSpPr/>
            <p:nvPr/>
          </p:nvSpPr>
          <p:spPr>
            <a:xfrm>
              <a:off x="9167828" y="5146034"/>
              <a:ext cx="304660" cy="395034"/>
            </a:xfrm>
            <a:custGeom>
              <a:avLst/>
              <a:gdLst/>
              <a:ahLst/>
              <a:cxnLst/>
              <a:rect l="l" t="t" r="r" b="b"/>
              <a:pathLst>
                <a:path w="304660" h="395034">
                  <a:moveTo>
                    <a:pt x="236461" y="395034"/>
                  </a:moveTo>
                  <a:lnTo>
                    <a:pt x="210496" y="379790"/>
                  </a:lnTo>
                  <a:lnTo>
                    <a:pt x="185602" y="362852"/>
                  </a:lnTo>
                  <a:lnTo>
                    <a:pt x="161890" y="344296"/>
                  </a:lnTo>
                  <a:lnTo>
                    <a:pt x="139465" y="324203"/>
                  </a:lnTo>
                  <a:lnTo>
                    <a:pt x="118425" y="302664"/>
                  </a:lnTo>
                  <a:lnTo>
                    <a:pt x="98865" y="279773"/>
                  </a:lnTo>
                  <a:lnTo>
                    <a:pt x="80871" y="255631"/>
                  </a:lnTo>
                  <a:lnTo>
                    <a:pt x="64522" y="230346"/>
                  </a:lnTo>
                  <a:lnTo>
                    <a:pt x="49892" y="204030"/>
                  </a:lnTo>
                  <a:lnTo>
                    <a:pt x="37044" y="176799"/>
                  </a:lnTo>
                  <a:lnTo>
                    <a:pt x="26036" y="148774"/>
                  </a:lnTo>
                  <a:lnTo>
                    <a:pt x="16916" y="120078"/>
                  </a:lnTo>
                  <a:lnTo>
                    <a:pt x="9725" y="90840"/>
                  </a:lnTo>
                  <a:lnTo>
                    <a:pt x="4495" y="61188"/>
                  </a:lnTo>
                  <a:lnTo>
                    <a:pt x="1248" y="31253"/>
                  </a:lnTo>
                  <a:lnTo>
                    <a:pt x="0" y="1169"/>
                  </a:lnTo>
                  <a:lnTo>
                    <a:pt x="142870" y="0"/>
                  </a:lnTo>
                  <a:lnTo>
                    <a:pt x="143724" y="20584"/>
                  </a:lnTo>
                  <a:lnTo>
                    <a:pt x="145945" y="41065"/>
                  </a:lnTo>
                  <a:lnTo>
                    <a:pt x="149524" y="61353"/>
                  </a:lnTo>
                  <a:lnTo>
                    <a:pt x="154444" y="81359"/>
                  </a:lnTo>
                  <a:lnTo>
                    <a:pt x="160684" y="100992"/>
                  </a:lnTo>
                  <a:lnTo>
                    <a:pt x="168216" y="120168"/>
                  </a:lnTo>
                  <a:lnTo>
                    <a:pt x="177007" y="138799"/>
                  </a:lnTo>
                  <a:lnTo>
                    <a:pt x="187017" y="156805"/>
                  </a:lnTo>
                  <a:lnTo>
                    <a:pt x="198203" y="174105"/>
                  </a:lnTo>
                  <a:lnTo>
                    <a:pt x="210515" y="190623"/>
                  </a:lnTo>
                  <a:lnTo>
                    <a:pt x="223898" y="206286"/>
                  </a:lnTo>
                  <a:lnTo>
                    <a:pt x="238293" y="221023"/>
                  </a:lnTo>
                  <a:lnTo>
                    <a:pt x="253637" y="234771"/>
                  </a:lnTo>
                  <a:lnTo>
                    <a:pt x="269861" y="247467"/>
                  </a:lnTo>
                  <a:lnTo>
                    <a:pt x="286894" y="259056"/>
                  </a:lnTo>
                  <a:lnTo>
                    <a:pt x="304660" y="269487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68790" y="55702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职业占比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0" y="657225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60070" y="6665595"/>
            <a:ext cx="2093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© 2024 调研项目组 | 目标受众画像分析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261026" y="6665595"/>
            <a:ext cx="370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第 1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5310" y="375285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消费频次与客单价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857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E85D4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10610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周均消费数据分析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81000" y="1428750"/>
            <a:ext cx="5524500" cy="4191000"/>
            <a:chOff x="381000" y="1428750"/>
            <a:chExt cx="5524500" cy="4191000"/>
          </a:xfrm>
        </p:grpSpPr>
        <p:sp>
          <p:nvSpPr>
            <p:cNvPr id="6" name="Rectangle 6"/>
            <p:cNvSpPr/>
            <p:nvPr/>
          </p:nvSpPr>
          <p:spPr>
            <a:xfrm>
              <a:off x="381000" y="1428750"/>
              <a:ext cx="5524500" cy="41910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1045" y="17268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消费频次分析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1714500" y="2476500"/>
              <a:ext cx="1524000" cy="1524000"/>
            </a:xfrm>
            <a:prstGeom prst="ellipse">
              <a:avLst/>
            </a:prstGeom>
            <a:noFill/>
            <a:ln w="133350">
              <a:solidFill>
                <a:srgbClr val="F3F4F6"/>
              </a:solidFill>
            </a:ln>
          </p:spPr>
        </p:sp>
        <p:sp>
          <p:nvSpPr>
            <p:cNvPr id="9" name="Arc 9"/>
            <p:cNvSpPr/>
            <p:nvPr/>
          </p:nvSpPr>
          <p:spPr>
            <a:xfrm>
              <a:off x="1647960" y="2410517"/>
              <a:ext cx="1656682" cy="1656588"/>
            </a:xfrm>
            <a:custGeom>
              <a:avLst/>
              <a:gdLst/>
              <a:ahLst/>
              <a:cxnLst/>
              <a:rect l="l" t="t" r="r" b="b"/>
              <a:pathLst>
                <a:path w="1656682" h="1656588">
                  <a:moveTo>
                    <a:pt x="183771" y="1348535"/>
                  </a:moveTo>
                  <a:lnTo>
                    <a:pt x="135203" y="1281840"/>
                  </a:lnTo>
                  <a:lnTo>
                    <a:pt x="93509" y="1210646"/>
                  </a:lnTo>
                  <a:lnTo>
                    <a:pt x="59101" y="1135659"/>
                  </a:lnTo>
                  <a:lnTo>
                    <a:pt x="32319" y="1057622"/>
                  </a:lnTo>
                  <a:lnTo>
                    <a:pt x="13431" y="977309"/>
                  </a:lnTo>
                  <a:lnTo>
                    <a:pt x="2622" y="895515"/>
                  </a:lnTo>
                  <a:lnTo>
                    <a:pt x="0" y="813052"/>
                  </a:lnTo>
                  <a:lnTo>
                    <a:pt x="5591" y="730737"/>
                  </a:lnTo>
                  <a:lnTo>
                    <a:pt x="19340" y="649386"/>
                  </a:lnTo>
                  <a:lnTo>
                    <a:pt x="41110" y="569806"/>
                  </a:lnTo>
                  <a:lnTo>
                    <a:pt x="70685" y="492784"/>
                  </a:lnTo>
                  <a:lnTo>
                    <a:pt x="107773" y="419086"/>
                  </a:lnTo>
                  <a:lnTo>
                    <a:pt x="152006" y="349440"/>
                  </a:lnTo>
                  <a:lnTo>
                    <a:pt x="202944" y="284538"/>
                  </a:lnTo>
                  <a:lnTo>
                    <a:pt x="260084" y="225024"/>
                  </a:lnTo>
                  <a:lnTo>
                    <a:pt x="322859" y="171486"/>
                  </a:lnTo>
                  <a:lnTo>
                    <a:pt x="390647" y="124455"/>
                  </a:lnTo>
                  <a:lnTo>
                    <a:pt x="462775" y="84399"/>
                  </a:lnTo>
                  <a:lnTo>
                    <a:pt x="538529" y="51713"/>
                  </a:lnTo>
                  <a:lnTo>
                    <a:pt x="617157" y="26722"/>
                  </a:lnTo>
                  <a:lnTo>
                    <a:pt x="697881" y="9673"/>
                  </a:lnTo>
                  <a:lnTo>
                    <a:pt x="779900" y="737"/>
                  </a:lnTo>
                  <a:lnTo>
                    <a:pt x="862401" y="0"/>
                  </a:lnTo>
                  <a:lnTo>
                    <a:pt x="944567" y="7471"/>
                  </a:lnTo>
                  <a:lnTo>
                    <a:pt x="1025583" y="23075"/>
                  </a:lnTo>
                  <a:lnTo>
                    <a:pt x="1104645" y="46658"/>
                  </a:lnTo>
                  <a:lnTo>
                    <a:pt x="1180970" y="77986"/>
                  </a:lnTo>
                  <a:lnTo>
                    <a:pt x="1253802" y="116748"/>
                  </a:lnTo>
                  <a:lnTo>
                    <a:pt x="1322419" y="162561"/>
                  </a:lnTo>
                  <a:lnTo>
                    <a:pt x="1386139" y="214969"/>
                  </a:lnTo>
                  <a:lnTo>
                    <a:pt x="1444333" y="273454"/>
                  </a:lnTo>
                  <a:lnTo>
                    <a:pt x="1496422" y="337436"/>
                  </a:lnTo>
                  <a:lnTo>
                    <a:pt x="1541891" y="406281"/>
                  </a:lnTo>
                  <a:lnTo>
                    <a:pt x="1580289" y="479306"/>
                  </a:lnTo>
                  <a:lnTo>
                    <a:pt x="1611235" y="555786"/>
                  </a:lnTo>
                  <a:lnTo>
                    <a:pt x="1634423" y="634966"/>
                  </a:lnTo>
                  <a:lnTo>
                    <a:pt x="1649622" y="716058"/>
                  </a:lnTo>
                  <a:lnTo>
                    <a:pt x="1656682" y="798260"/>
                  </a:lnTo>
                  <a:lnTo>
                    <a:pt x="1655533" y="880757"/>
                  </a:lnTo>
                  <a:lnTo>
                    <a:pt x="1646187" y="962730"/>
                  </a:lnTo>
                  <a:lnTo>
                    <a:pt x="1628735" y="1043368"/>
                  </a:lnTo>
                  <a:lnTo>
                    <a:pt x="1603352" y="1121870"/>
                  </a:lnTo>
                  <a:lnTo>
                    <a:pt x="1570288" y="1197460"/>
                  </a:lnTo>
                  <a:lnTo>
                    <a:pt x="1529871" y="1269387"/>
                  </a:lnTo>
                  <a:lnTo>
                    <a:pt x="1482503" y="1336939"/>
                  </a:lnTo>
                  <a:lnTo>
                    <a:pt x="1428652" y="1399445"/>
                  </a:lnTo>
                  <a:lnTo>
                    <a:pt x="1368852" y="1456287"/>
                  </a:lnTo>
                  <a:lnTo>
                    <a:pt x="1303696" y="1506901"/>
                  </a:lnTo>
                  <a:lnTo>
                    <a:pt x="1233831" y="1550785"/>
                  </a:lnTo>
                  <a:lnTo>
                    <a:pt x="1159948" y="1587504"/>
                  </a:lnTo>
                  <a:lnTo>
                    <a:pt x="1082779" y="1616694"/>
                  </a:lnTo>
                  <a:lnTo>
                    <a:pt x="1003091" y="1638066"/>
                  </a:lnTo>
                  <a:lnTo>
                    <a:pt x="921672" y="1651408"/>
                  </a:lnTo>
                  <a:lnTo>
                    <a:pt x="839331" y="1656588"/>
                  </a:lnTo>
                  <a:lnTo>
                    <a:pt x="756882" y="1653554"/>
                  </a:lnTo>
                  <a:lnTo>
                    <a:pt x="675143" y="1642336"/>
                  </a:lnTo>
                  <a:lnTo>
                    <a:pt x="594926" y="1623047"/>
                  </a:lnTo>
                  <a:lnTo>
                    <a:pt x="517023" y="1595876"/>
                  </a:lnTo>
                  <a:lnTo>
                    <a:pt x="442209" y="1561093"/>
                  </a:lnTo>
                  <a:lnTo>
                    <a:pt x="371225" y="1519043"/>
                  </a:lnTo>
                  <a:lnTo>
                    <a:pt x="304773" y="1470143"/>
                  </a:lnTo>
                  <a:lnTo>
                    <a:pt x="243514" y="1414878"/>
                  </a:lnTo>
                  <a:lnTo>
                    <a:pt x="188053" y="1353795"/>
                  </a:lnTo>
                  <a:lnTo>
                    <a:pt x="291120" y="1269181"/>
                  </a:lnTo>
                  <a:lnTo>
                    <a:pt x="337656" y="1320435"/>
                  </a:lnTo>
                  <a:lnTo>
                    <a:pt x="389058" y="1366807"/>
                  </a:lnTo>
                  <a:lnTo>
                    <a:pt x="444816" y="1407838"/>
                  </a:lnTo>
                  <a:lnTo>
                    <a:pt x="504377" y="1443121"/>
                  </a:lnTo>
                  <a:lnTo>
                    <a:pt x="567153" y="1472307"/>
                  </a:lnTo>
                  <a:lnTo>
                    <a:pt x="632519" y="1495105"/>
                  </a:lnTo>
                  <a:lnTo>
                    <a:pt x="699828" y="1511291"/>
                  </a:lnTo>
                  <a:lnTo>
                    <a:pt x="768413" y="1520703"/>
                  </a:lnTo>
                  <a:lnTo>
                    <a:pt x="837594" y="1523249"/>
                  </a:lnTo>
                  <a:lnTo>
                    <a:pt x="906686" y="1518903"/>
                  </a:lnTo>
                  <a:lnTo>
                    <a:pt x="975002" y="1507708"/>
                  </a:lnTo>
                  <a:lnTo>
                    <a:pt x="1041867" y="1489775"/>
                  </a:lnTo>
                  <a:lnTo>
                    <a:pt x="1106618" y="1465282"/>
                  </a:lnTo>
                  <a:lnTo>
                    <a:pt x="1168611" y="1434472"/>
                  </a:lnTo>
                  <a:lnTo>
                    <a:pt x="1227234" y="1397650"/>
                  </a:lnTo>
                  <a:lnTo>
                    <a:pt x="1281905" y="1355181"/>
                  </a:lnTo>
                  <a:lnTo>
                    <a:pt x="1332082" y="1307486"/>
                  </a:lnTo>
                  <a:lnTo>
                    <a:pt x="1377267" y="1255038"/>
                  </a:lnTo>
                  <a:lnTo>
                    <a:pt x="1417013" y="1198356"/>
                  </a:lnTo>
                  <a:lnTo>
                    <a:pt x="1450926" y="1138004"/>
                  </a:lnTo>
                  <a:lnTo>
                    <a:pt x="1478669" y="1074578"/>
                  </a:lnTo>
                  <a:lnTo>
                    <a:pt x="1499968" y="1008708"/>
                  </a:lnTo>
                  <a:lnTo>
                    <a:pt x="1514612" y="941047"/>
                  </a:lnTo>
                  <a:lnTo>
                    <a:pt x="1522454" y="872264"/>
                  </a:lnTo>
                  <a:lnTo>
                    <a:pt x="1523418" y="803043"/>
                  </a:lnTo>
                  <a:lnTo>
                    <a:pt x="1517494" y="734069"/>
                  </a:lnTo>
                  <a:lnTo>
                    <a:pt x="1504741" y="666026"/>
                  </a:lnTo>
                  <a:lnTo>
                    <a:pt x="1485285" y="599588"/>
                  </a:lnTo>
                  <a:lnTo>
                    <a:pt x="1459318" y="535415"/>
                  </a:lnTo>
                  <a:lnTo>
                    <a:pt x="1427099" y="474141"/>
                  </a:lnTo>
                  <a:lnTo>
                    <a:pt x="1388947" y="416375"/>
                  </a:lnTo>
                  <a:lnTo>
                    <a:pt x="1345240" y="362689"/>
                  </a:lnTo>
                  <a:lnTo>
                    <a:pt x="1296411" y="313615"/>
                  </a:lnTo>
                  <a:lnTo>
                    <a:pt x="1242944" y="269640"/>
                  </a:lnTo>
                  <a:lnTo>
                    <a:pt x="1185369" y="231200"/>
                  </a:lnTo>
                  <a:lnTo>
                    <a:pt x="1124257" y="198675"/>
                  </a:lnTo>
                  <a:lnTo>
                    <a:pt x="1060214" y="172388"/>
                  </a:lnTo>
                  <a:lnTo>
                    <a:pt x="993875" y="152600"/>
                  </a:lnTo>
                  <a:lnTo>
                    <a:pt x="925896" y="139507"/>
                  </a:lnTo>
                  <a:lnTo>
                    <a:pt x="856953" y="133239"/>
                  </a:lnTo>
                  <a:lnTo>
                    <a:pt x="787727" y="133857"/>
                  </a:lnTo>
                  <a:lnTo>
                    <a:pt x="718907" y="141355"/>
                  </a:lnTo>
                  <a:lnTo>
                    <a:pt x="651173" y="155660"/>
                  </a:lnTo>
                  <a:lnTo>
                    <a:pt x="585197" y="176630"/>
                  </a:lnTo>
                  <a:lnTo>
                    <a:pt x="521634" y="204056"/>
                  </a:lnTo>
                  <a:lnTo>
                    <a:pt x="461112" y="237667"/>
                  </a:lnTo>
                  <a:lnTo>
                    <a:pt x="404233" y="277129"/>
                  </a:lnTo>
                  <a:lnTo>
                    <a:pt x="351560" y="322052"/>
                  </a:lnTo>
                  <a:lnTo>
                    <a:pt x="303615" y="371989"/>
                  </a:lnTo>
                  <a:lnTo>
                    <a:pt x="260873" y="426447"/>
                  </a:lnTo>
                  <a:lnTo>
                    <a:pt x="223759" y="484885"/>
                  </a:lnTo>
                  <a:lnTo>
                    <a:pt x="192639" y="546724"/>
                  </a:lnTo>
                  <a:lnTo>
                    <a:pt x="167823" y="611352"/>
                  </a:lnTo>
                  <a:lnTo>
                    <a:pt x="149556" y="678126"/>
                  </a:lnTo>
                  <a:lnTo>
                    <a:pt x="138020" y="746386"/>
                  </a:lnTo>
                  <a:lnTo>
                    <a:pt x="133328" y="815455"/>
                  </a:lnTo>
                  <a:lnTo>
                    <a:pt x="135528" y="884648"/>
                  </a:lnTo>
                  <a:lnTo>
                    <a:pt x="144598" y="953279"/>
                  </a:lnTo>
                  <a:lnTo>
                    <a:pt x="160447" y="1020668"/>
                  </a:lnTo>
                  <a:lnTo>
                    <a:pt x="182918" y="1086148"/>
                  </a:lnTo>
                  <a:lnTo>
                    <a:pt x="211790" y="1149068"/>
                  </a:lnTo>
                  <a:lnTo>
                    <a:pt x="246775" y="1208805"/>
                  </a:lnTo>
                  <a:lnTo>
                    <a:pt x="287527" y="1264768"/>
                  </a:lnTo>
                  <a:close/>
                </a:path>
              </a:pathLst>
            </a:custGeom>
            <a:solidFill>
              <a:srgbClr val="E85D4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61071" y="2863215"/>
              <a:ext cx="1230859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3.2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2411" y="36480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次 / 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62375" y="2809875"/>
              <a:ext cx="95250" cy="9525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85260" y="2775585"/>
              <a:ext cx="15106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周均访问频次 3.2 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762375" y="3190875"/>
              <a:ext cx="95250" cy="9525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85260" y="315658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高频刚需消费场景固化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3762375" y="3571875"/>
              <a:ext cx="95250" cy="9525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85260" y="3537585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复购率领先行业均值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1428750"/>
            <a:ext cx="5524500" cy="4191000"/>
            <a:chOff x="6286500" y="1428750"/>
            <a:chExt cx="5524500" cy="4191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428750"/>
              <a:ext cx="5524500" cy="41910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46545" y="17268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客单价分析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0355" y="2616518"/>
              <a:ext cx="16409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本次消费：28.6 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0" y="2952750"/>
              <a:ext cx="2667000" cy="266700"/>
            </a:xfrm>
            <a:prstGeom prst="roundRect">
              <a:avLst>
                <a:gd name="adj" fmla="val 50000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0" y="2952750"/>
              <a:ext cx="1771650" cy="26670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509760" y="3013710"/>
              <a:ext cx="5425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28.6元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52260" y="3394710"/>
              <a:ext cx="13906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行业均值：35.0 元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3667125"/>
              <a:ext cx="2667000" cy="190500"/>
            </a:xfrm>
            <a:prstGeom prst="roundRect">
              <a:avLst>
                <a:gd name="adj" fmla="val 50000"/>
              </a:avLst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0" y="3667125"/>
              <a:ext cx="2162175" cy="190500"/>
            </a:xfrm>
            <a:prstGeom prst="roundRect">
              <a:avLst>
                <a:gd name="adj" fmla="val 50000"/>
              </a:avLst>
            </a:prstGeom>
            <a:solidFill>
              <a:srgbClr val="9CA3A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11665" y="3696652"/>
              <a:ext cx="4747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35.0元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19875" y="4238625"/>
              <a:ext cx="95250" cy="9525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42760" y="4204335"/>
              <a:ext cx="1118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客单价 28.6 元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19875" y="4619625"/>
              <a:ext cx="95250" cy="9525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42760" y="4585335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性价比导向显著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19875" y="5000625"/>
              <a:ext cx="95250" cy="9525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42760" y="4966335"/>
              <a:ext cx="12626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低于行业均值 18%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6096000" y="1714500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19050">
            <a:solidFill>
              <a:srgbClr val="E5E7EB"/>
            </a:solidFill>
            <a:custDash>
              <a:ds d="300000" sp="300000"/>
            </a:custDash>
          </a:ln>
        </p:spPr>
      </p:sp>
      <p:sp>
        <p:nvSpPr>
          <p:cNvPr id="37" name="Rectangle 37"/>
          <p:cNvSpPr/>
          <p:nvPr/>
        </p:nvSpPr>
        <p:spPr>
          <a:xfrm>
            <a:off x="5791200" y="3381375"/>
            <a:ext cx="6096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5974892" y="350234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5D4C"/>
                </a:solidFill>
                <a:latin typeface="Segoe UI"/>
                <a:ea typeface="Microsoft YaHei"/>
                <a:cs typeface="Segoe UI"/>
              </a:rPr>
              <a:t>VS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81000" y="6000750"/>
            <a:ext cx="11430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44855" y="6140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5D4C"/>
                </a:solidFill>
                <a:latin typeface="Segoe UI"/>
                <a:ea typeface="Microsoft YaHei"/>
                <a:cs typeface="Segoe UI"/>
              </a:rPr>
              <a:t>核心洞察</a:t>
            </a:r>
          </a:p>
        </p:txBody>
      </p:sp>
      <p:sp>
        <p:nvSpPr>
          <p:cNvPr id="41" name="Ellipse 41"/>
          <p:cNvSpPr/>
          <p:nvPr/>
        </p:nvSpPr>
        <p:spPr>
          <a:xfrm>
            <a:off x="723900" y="6438900"/>
            <a:ext cx="76200" cy="76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37260" y="6395085"/>
            <a:ext cx="4831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高频刚需消费习惯稳定，用户粘性较强，复购率领先行业平均水平。</a:t>
            </a:r>
          </a:p>
        </p:txBody>
      </p:sp>
      <p:sp>
        <p:nvSpPr>
          <p:cNvPr id="43" name="Ellipse 43"/>
          <p:cNvSpPr/>
          <p:nvPr/>
        </p:nvSpPr>
        <p:spPr>
          <a:xfrm>
            <a:off x="723900" y="6677025"/>
            <a:ext cx="76200" cy="76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37260" y="6633210"/>
            <a:ext cx="4351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客单价处于中低水平，高性价比定价策略有效驱动消费决策。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85D4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65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影响决策的关键因素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2450" y="107632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消费者选择行为因素权重分析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524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1809750"/>
            <a:ext cx="11430000" cy="4286250"/>
          </a:xfrm>
          <a:prstGeom prst="roundRect">
            <a:avLst>
              <a:gd name="adj" fmla="val 3556"/>
            </a:avLst>
          </a:prstGeom>
          <a:solidFill>
            <a:srgbClr val="F8F9F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2450" y="2124075"/>
            <a:ext cx="17078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因素权重对比 (%)</a:t>
            </a:r>
          </a:p>
        </p:txBody>
      </p:sp>
      <p:sp>
        <p:nvSpPr>
          <p:cNvPr id="9" name="Line 9"/>
          <p:cNvSpPr/>
          <p:nvPr/>
        </p:nvSpPr>
        <p:spPr>
          <a:xfrm>
            <a:off x="1524000" y="257175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0" name="TextBox 10"/>
          <p:cNvSpPr txBox="1"/>
          <p:nvPr/>
        </p:nvSpPr>
        <p:spPr>
          <a:xfrm>
            <a:off x="1433655" y="2363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0%</a:t>
            </a:r>
          </a:p>
        </p:txBody>
      </p:sp>
      <p:sp>
        <p:nvSpPr>
          <p:cNvPr id="11" name="Line 11"/>
          <p:cNvSpPr/>
          <p:nvPr/>
        </p:nvSpPr>
        <p:spPr>
          <a:xfrm>
            <a:off x="3667125" y="257175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3538276" y="236315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25%</a:t>
            </a:r>
          </a:p>
        </p:txBody>
      </p:sp>
      <p:sp>
        <p:nvSpPr>
          <p:cNvPr id="13" name="Line 13"/>
          <p:cNvSpPr/>
          <p:nvPr/>
        </p:nvSpPr>
        <p:spPr>
          <a:xfrm>
            <a:off x="5810250" y="257175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5681401" y="236315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50%</a:t>
            </a:r>
          </a:p>
        </p:txBody>
      </p:sp>
      <p:sp>
        <p:nvSpPr>
          <p:cNvPr id="15" name="Line 15"/>
          <p:cNvSpPr/>
          <p:nvPr/>
        </p:nvSpPr>
        <p:spPr>
          <a:xfrm>
            <a:off x="7953375" y="257175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7824526" y="2363152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75%</a:t>
            </a:r>
          </a:p>
        </p:txBody>
      </p:sp>
      <p:sp>
        <p:nvSpPr>
          <p:cNvPr id="17" name="Line 17"/>
          <p:cNvSpPr/>
          <p:nvPr/>
        </p:nvSpPr>
        <p:spPr>
          <a:xfrm>
            <a:off x="10096500" y="257175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8" name="TextBox 18"/>
          <p:cNvSpPr txBox="1"/>
          <p:nvPr/>
        </p:nvSpPr>
        <p:spPr>
          <a:xfrm>
            <a:off x="9946648" y="2363152"/>
            <a:ext cx="2997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0179" y="3031808"/>
            <a:ext cx="5732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口 味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8458" y="4174808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性价比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0179" y="5317808"/>
            <a:ext cx="5732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氛 围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524000" y="5238750"/>
            <a:ext cx="2657475" cy="381000"/>
          </a:xfrm>
          <a:prstGeom prst="roundRect">
            <a:avLst>
              <a:gd name="adj" fmla="val 20000"/>
            </a:avLst>
          </a:prstGeom>
          <a:solidFill>
            <a:srgbClr val="4A729A">
              <a:alpha val="90000"/>
            </a:srgbClr>
          </a:solidFill>
          <a:ln>
            <a:noFill/>
          </a:ln>
          <a:effectLst>
            <a:outerShdw blurRad="114300" dist="5715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3" name="TextBox 23"/>
          <p:cNvSpPr txBox="1"/>
          <p:nvPr/>
        </p:nvSpPr>
        <p:spPr>
          <a:xfrm>
            <a:off x="4305300" y="5334000"/>
            <a:ext cx="3321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29A"/>
                </a:solidFill>
                <a:latin typeface="Segoe UI"/>
                <a:ea typeface="Microsoft YaHei"/>
                <a:cs typeface="Segoe UI"/>
              </a:rPr>
              <a:t>31%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524000" y="4095750"/>
            <a:ext cx="4114800" cy="381000"/>
          </a:xfrm>
          <a:prstGeom prst="roundRect">
            <a:avLst>
              <a:gd name="adj" fmla="val 20000"/>
            </a:avLst>
          </a:prstGeom>
          <a:solidFill>
            <a:srgbClr val="1E3A5F">
              <a:alpha val="90000"/>
            </a:srgbClr>
          </a:solidFill>
          <a:ln>
            <a:noFill/>
          </a:ln>
          <a:effectLst>
            <a:outerShdw blurRad="114300" dist="5715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5" name="TextBox 25"/>
          <p:cNvSpPr txBox="1"/>
          <p:nvPr/>
        </p:nvSpPr>
        <p:spPr>
          <a:xfrm>
            <a:off x="5762625" y="4191000"/>
            <a:ext cx="38464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3A5F"/>
                </a:solidFill>
                <a:latin typeface="Segoe UI"/>
                <a:ea typeface="Microsoft YaHei"/>
                <a:cs typeface="Segoe UI"/>
              </a:rPr>
              <a:t>48%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524000" y="2952750"/>
            <a:ext cx="5314950" cy="381000"/>
          </a:xfrm>
          <a:prstGeom prst="roundRect">
            <a:avLst>
              <a:gd name="adj" fmla="val 20000"/>
            </a:avLst>
          </a:prstGeom>
          <a:solidFill>
            <a:srgbClr val="E85D4C">
              <a:alpha val="90000"/>
            </a:srgbClr>
          </a:solidFill>
          <a:ln>
            <a:noFill/>
          </a:ln>
          <a:effectLst>
            <a:outerShdw blurRad="114300" dist="57150" dir="5400000" algn="ctr" rotWithShape="0">
              <a:srgbClr val="000000">
                <a:alpha val="6000"/>
              </a:srgbClr>
            </a:outerShdw>
          </a:effectLst>
        </p:spPr>
      </p:sp>
      <p:sp>
        <p:nvSpPr>
          <p:cNvPr id="27" name="TextBox 27"/>
          <p:cNvSpPr txBox="1"/>
          <p:nvPr/>
        </p:nvSpPr>
        <p:spPr>
          <a:xfrm>
            <a:off x="6962775" y="3048000"/>
            <a:ext cx="38464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5D4C"/>
                </a:solidFill>
                <a:latin typeface="Segoe UI"/>
                <a:ea typeface="Microsoft YaHei"/>
                <a:cs typeface="Segoe UI"/>
              </a:rPr>
              <a:t>62%</a:t>
            </a:r>
          </a:p>
        </p:txBody>
      </p:sp>
      <p:sp>
        <p:nvSpPr>
          <p:cNvPr id="28" name="Line 28"/>
          <p:cNvSpPr/>
          <p:nvPr/>
        </p:nvSpPr>
        <p:spPr>
          <a:xfrm>
            <a:off x="571500" y="6334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58165" y="6506528"/>
            <a:ext cx="25749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数据来源：2024年餐饮消费决策因素调研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38106" y="6506528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05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D4A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952500" y="-952500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6667500" y="2381250"/>
            <a:ext cx="7620000" cy="7620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85D4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19943" y="484822"/>
            <a:ext cx="395211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品牌市场份额对比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4939" y="1139190"/>
            <a:ext cx="32621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ABBCC"/>
                </a:solidFill>
                <a:latin typeface="Segoe UI"/>
                <a:ea typeface="Microsoft YaHei"/>
                <a:cs typeface="Segoe UI"/>
              </a:rPr>
              <a:t>2024 年 Q3 最新市场调研数据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1714500"/>
            <a:ext cx="10287000" cy="4000500"/>
          </a:xfrm>
          <a:prstGeom prst="roundRect">
            <a:avLst>
              <a:gd name="adj" fmla="val 381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1200"/>
              </a:srgbClr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482727" y="2642235"/>
            <a:ext cx="10756773" cy="2244090"/>
            <a:chOff x="482727" y="2642235"/>
            <a:chExt cx="10756773" cy="2244090"/>
          </a:xfrm>
        </p:grpSpPr>
        <p:sp>
          <p:nvSpPr>
            <p:cNvPr id="9" name="Line 9"/>
            <p:cNvSpPr/>
            <p:nvPr/>
          </p:nvSpPr>
          <p:spPr>
            <a:xfrm>
              <a:off x="952500" y="47148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  <a:custDash>
                <a:ds d="600000" sp="800000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2727" y="4642485"/>
              <a:ext cx="2945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FFFFFF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25%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52500" y="37147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  <a:custDash>
                <a:ds d="600000" sp="8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82727" y="3642360"/>
              <a:ext cx="2945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FFFFFF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50%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52500" y="271462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  <a:custDash>
                <a:ds d="600000" sp="8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727" y="2642235"/>
              <a:ext cx="2945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FFFFFF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75%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952500" y="171450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952500" y="57150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28575">
            <a:solidFill>
              <a:srgbClr val="FFFFFF">
                <a:alpha val="50000"/>
              </a:srgbClr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2095500" y="1924050"/>
            <a:ext cx="1524000" cy="3790950"/>
            <a:chOff x="2095500" y="1924050"/>
            <a:chExt cx="1524000" cy="3790950"/>
          </a:xfrm>
        </p:grpSpPr>
        <p:sp>
          <p:nvSpPr>
            <p:cNvPr id="18" name="Rectangle 18"/>
            <p:cNvSpPr/>
            <p:nvPr/>
          </p:nvSpPr>
          <p:spPr>
            <a:xfrm>
              <a:off x="2095500" y="2594610"/>
              <a:ext cx="1524000" cy="3120390"/>
            </a:xfrm>
            <a:prstGeom prst="roundRect">
              <a:avLst>
                <a:gd name="adj" fmla="val 6250"/>
              </a:avLst>
            </a:prstGeom>
            <a:solidFill>
              <a:srgbClr val="E85D4C"/>
            </a:solidFill>
            <a:ln>
              <a:noFill/>
            </a:ln>
            <a:effectLst>
              <a:outerShdw blurRad="1143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2476500" y="228600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1E3A5F">
                <a:alpha val="80000"/>
              </a:srgbClr>
            </a:solidFill>
            <a:ln>
              <a:noFill/>
            </a:ln>
            <a:effectLst>
              <a:outerShdw blurRad="76200" dist="38100" dir="5400000" algn="ctr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2626714" y="2320290"/>
              <a:ext cx="4615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78%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2667000" y="1924050"/>
              <a:ext cx="381000" cy="3810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  <a:effectLst>
              <a:outerShdw blurRad="76200" dist="38100" dir="5400000" algn="ctr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2812001" y="2035492"/>
              <a:ext cx="909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3A5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62500" y="2571750"/>
            <a:ext cx="1524000" cy="3143250"/>
            <a:chOff x="4762500" y="2571750"/>
            <a:chExt cx="1524000" cy="3143250"/>
          </a:xfrm>
        </p:grpSpPr>
        <p:sp>
          <p:nvSpPr>
            <p:cNvPr id="24" name="Rectangle 24"/>
            <p:cNvSpPr/>
            <p:nvPr/>
          </p:nvSpPr>
          <p:spPr>
            <a:xfrm>
              <a:off x="4762500" y="2874645"/>
              <a:ext cx="1524000" cy="2840355"/>
            </a:xfrm>
            <a:prstGeom prst="roundRect">
              <a:avLst>
                <a:gd name="adj" fmla="val 6250"/>
              </a:avLst>
            </a:prstGeom>
            <a:solidFill>
              <a:srgbClr val="E85D4C">
                <a:alpha val="85000"/>
              </a:srgbClr>
            </a:solidFill>
            <a:ln>
              <a:noFill/>
            </a:ln>
            <a:effectLst>
              <a:outerShdw blurRad="1143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5143500" y="25717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1E3A5F">
                <a:alpha val="80000"/>
              </a:srgbClr>
            </a:solidFill>
            <a:ln>
              <a:noFill/>
            </a:ln>
            <a:effectLst>
              <a:outerShdw blurRad="76200" dist="38100" dir="5400000" algn="ctr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5325218" y="2606040"/>
              <a:ext cx="39856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71%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429500" y="3248025"/>
            <a:ext cx="1524000" cy="2466975"/>
            <a:chOff x="7429500" y="3248025"/>
            <a:chExt cx="1524000" cy="2466975"/>
          </a:xfrm>
        </p:grpSpPr>
        <p:sp>
          <p:nvSpPr>
            <p:cNvPr id="28" name="Rectangle 28"/>
            <p:cNvSpPr/>
            <p:nvPr/>
          </p:nvSpPr>
          <p:spPr>
            <a:xfrm>
              <a:off x="7429500" y="3554730"/>
              <a:ext cx="1524000" cy="2160270"/>
            </a:xfrm>
            <a:prstGeom prst="roundRect">
              <a:avLst>
                <a:gd name="adj" fmla="val 6250"/>
              </a:avLst>
            </a:prstGeom>
            <a:solidFill>
              <a:srgbClr val="E85D4C">
                <a:alpha val="65000"/>
              </a:srgbClr>
            </a:solidFill>
            <a:ln>
              <a:noFill/>
            </a:ln>
            <a:effectLst>
              <a:outerShdw blurRad="1143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7810500" y="3248025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1E3A5F">
                <a:alpha val="80000"/>
              </a:srgbClr>
            </a:solidFill>
            <a:ln>
              <a:noFill/>
            </a:ln>
            <a:effectLst>
              <a:outerShdw blurRad="76200" dist="38100" dir="5400000" algn="ctr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0" name="TextBox 30"/>
            <p:cNvSpPr txBox="1"/>
            <p:nvPr/>
          </p:nvSpPr>
          <p:spPr>
            <a:xfrm>
              <a:off x="7960714" y="3282315"/>
              <a:ext cx="4615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54%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86667" y="5933122"/>
            <a:ext cx="6475667" cy="396240"/>
            <a:chOff x="2286667" y="5933122"/>
            <a:chExt cx="6475667" cy="396240"/>
          </a:xfrm>
        </p:grpSpPr>
        <p:sp>
          <p:nvSpPr>
            <p:cNvPr id="32" name="TextBox 32"/>
            <p:cNvSpPr txBox="1"/>
            <p:nvPr/>
          </p:nvSpPr>
          <p:spPr>
            <a:xfrm>
              <a:off x="2286667" y="593312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瑞幸咖啡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90184" y="5933122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星巴克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667" y="593312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库迪咖啡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905000" y="6381750"/>
            <a:ext cx="8382000" cy="438150"/>
            <a:chOff x="1905000" y="6381750"/>
            <a:chExt cx="8382000" cy="438150"/>
          </a:xfrm>
        </p:grpSpPr>
        <p:sp>
          <p:nvSpPr>
            <p:cNvPr id="36" name="Rectangle 36"/>
            <p:cNvSpPr/>
            <p:nvPr/>
          </p:nvSpPr>
          <p:spPr>
            <a:xfrm>
              <a:off x="1905000" y="6381750"/>
              <a:ext cx="8382000" cy="438150"/>
            </a:xfrm>
            <a:prstGeom prst="roundRect">
              <a:avLst>
                <a:gd name="adj" fmla="val 50000"/>
              </a:avLst>
            </a:prstGeom>
            <a:solidFill>
              <a:srgbClr val="E85D4C"/>
            </a:solidFill>
            <a:ln>
              <a:noFill/>
            </a:ln>
            <a:effectLst>
              <a:outerShdw blurRad="76200" dist="38100" dir="5400000" algn="ctr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2840641" y="6479858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竞争结论：瑞幸市场份额领先，星巴克紧随其后，库迪仍需追赶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715500" y="-571500"/>
            <a:ext cx="3429000" cy="3429000"/>
          </a:xfrm>
          <a:prstGeom prst="ellipse">
            <a:avLst/>
          </a:prstGeom>
          <a:solidFill>
            <a:srgbClr val="E85D4C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571500" y="4762500"/>
            <a:ext cx="2667000" cy="2667000"/>
          </a:xfrm>
          <a:prstGeom prst="ellipse">
            <a:avLst/>
          </a:prstGeom>
          <a:solidFill>
            <a:srgbClr val="1E3A5F">
              <a:alpha val="5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953750" y="1905000"/>
            <a:ext cx="952500" cy="1428750"/>
          </a:xfrm>
          <a:custGeom>
            <a:avLst/>
            <a:gdLst/>
            <a:ahLst/>
            <a:cxnLst/>
            <a:rect l="l" t="t" r="r" b="b"/>
            <a:pathLst>
              <a:path w="952500" h="1428750">
                <a:moveTo>
                  <a:pt x="476250" y="1428750"/>
                </a:moveTo>
                <a:lnTo>
                  <a:pt x="0" y="0"/>
                </a:lnTo>
                <a:lnTo>
                  <a:pt x="952500" y="0"/>
                </a:lnTo>
                <a:close/>
              </a:path>
            </a:pathLst>
          </a:custGeom>
          <a:solidFill>
            <a:srgbClr val="E85D4C">
              <a:alpha val="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1495" y="421958"/>
            <a:ext cx="228528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3A5F"/>
                </a:solidFill>
                <a:latin typeface="Arial"/>
                <a:ea typeface="Microsoft YaHei"/>
                <a:cs typeface="Arial"/>
              </a:rPr>
              <a:t>建议与机会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949642"/>
            <a:ext cx="38147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C757D"/>
                </a:solidFill>
                <a:latin typeface="Arial"/>
                <a:ea typeface="Microsoft YaHei"/>
                <a:cs typeface="Arial"/>
              </a:rPr>
              <a:t>基于调研数据的三大战略方向与可执行落地路径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1285875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47625" cap="rnd">
            <a:solidFill>
              <a:srgbClr val="E85D4C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3810000" y="952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190500"/>
                </a:moveTo>
                <a:lnTo>
                  <a:pt x="142875" y="0"/>
                </a:lnTo>
                <a:lnTo>
                  <a:pt x="285750" y="190500"/>
                </a:lnTo>
                <a:lnTo>
                  <a:pt x="190500" y="190500"/>
                </a:lnTo>
                <a:lnTo>
                  <a:pt x="190500" y="381000"/>
                </a:lnTo>
                <a:lnTo>
                  <a:pt x="95250" y="381000"/>
                </a:lnTo>
                <a:lnTo>
                  <a:pt x="95250" y="190500"/>
                </a:lnTo>
                <a:close/>
              </a:path>
            </a:pathLst>
          </a:custGeom>
          <a:solidFill>
            <a:srgbClr val="E85D4C">
              <a:alpha val="80000"/>
            </a:srgbClr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71500" y="1714500"/>
            <a:ext cx="3429000" cy="4572000"/>
            <a:chOff x="571500" y="1714500"/>
            <a:chExt cx="3429000" cy="4572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714500"/>
              <a:ext cx="3429000" cy="4572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ctr" rotWithShape="0">
                <a:srgbClr val="1E3A5F">
                  <a:alpha val="4500"/>
                </a:srgbClr>
              </a:outerShdw>
            </a:effectLst>
          </p:spPr>
        </p:sp>
        <p:sp>
          <p:nvSpPr>
            <p:cNvPr id="11" name="Freeform 11"/>
            <p:cNvSpPr/>
            <p:nvPr/>
          </p:nvSpPr>
          <p:spPr>
            <a:xfrm>
              <a:off x="571500" y="1714500"/>
              <a:ext cx="3429000" cy="142875"/>
            </a:xfrm>
            <a:custGeom>
              <a:avLst/>
              <a:gdLst/>
              <a:ahLst/>
              <a:cxnLst/>
              <a:rect l="l" t="t" r="r" b="b"/>
              <a:pathLst>
                <a:path w="3429000" h="142875">
                  <a:moveTo>
                    <a:pt x="0" y="114300"/>
                  </a:moveTo>
                  <a:cubicBezTo>
                    <a:pt x="0" y="38100"/>
                    <a:pt x="38100" y="0"/>
                    <a:pt x="114300" y="0"/>
                  </a:cubicBez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E85D4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1981200"/>
              <a:ext cx="419100" cy="41910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  <a:effectLst>
              <a:outerShdw blurRad="76200" dist="38100" dir="5400000" algn="ctr" rotWithShape="0">
                <a:srgbClr val="E85D4C">
                  <a:alpha val="225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901946" y="2095500"/>
              <a:ext cx="1011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64920" y="208883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拥抱数据驱动文化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25241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F1F3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7712" y="278368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全面整合前端埋点与后端业务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7712" y="3050381"/>
              <a:ext cx="19563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数据，利用AI分析模型识别增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7712" y="331708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长机会，使决策更科学高效。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953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7260" y="510921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🚀 建议落地行动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5411152"/>
              <a:ext cx="21129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Arial"/>
                  <a:ea typeface="Microsoft YaHei"/>
                  <a:cs typeface="Arial"/>
                </a:rPr>
                <a:t>1. 建立统一的用户数据平台(CDP)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165" y="5677852"/>
              <a:ext cx="2161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Arial"/>
                  <a:ea typeface="Microsoft YaHei"/>
                  <a:cs typeface="Arial"/>
                </a:rPr>
                <a:t>2. 核心岗位全面部署BI可视化看板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572000" y="1714500"/>
            <a:ext cx="3429000" cy="4572000"/>
            <a:chOff x="4572000" y="1714500"/>
            <a:chExt cx="3429000" cy="4572000"/>
          </a:xfrm>
        </p:grpSpPr>
        <p:sp>
          <p:nvSpPr>
            <p:cNvPr id="24" name="Rectangle 24"/>
            <p:cNvSpPr/>
            <p:nvPr/>
          </p:nvSpPr>
          <p:spPr>
            <a:xfrm>
              <a:off x="4572000" y="1714500"/>
              <a:ext cx="3429000" cy="4572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ctr" rotWithShape="0">
                <a:srgbClr val="1E3A5F">
                  <a:alpha val="4500"/>
                </a:srgbClr>
              </a:outerShdw>
            </a:effectLst>
          </p:spPr>
        </p:sp>
        <p:sp>
          <p:nvSpPr>
            <p:cNvPr id="25" name="Freeform 25"/>
            <p:cNvSpPr/>
            <p:nvPr/>
          </p:nvSpPr>
          <p:spPr>
            <a:xfrm>
              <a:off x="4572000" y="1714500"/>
              <a:ext cx="3429000" cy="142875"/>
            </a:xfrm>
            <a:custGeom>
              <a:avLst/>
              <a:gdLst/>
              <a:ahLst/>
              <a:cxnLst/>
              <a:rect l="l" t="t" r="r" b="b"/>
              <a:pathLst>
                <a:path w="3429000" h="142875">
                  <a:moveTo>
                    <a:pt x="0" y="114300"/>
                  </a:moveTo>
                  <a:cubicBezTo>
                    <a:pt x="0" y="38100"/>
                    <a:pt x="38100" y="0"/>
                    <a:pt x="114300" y="0"/>
                  </a:cubicBez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E85D4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743450" y="1981200"/>
              <a:ext cx="419100" cy="41910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  <a:effectLst>
              <a:outerShdw blurRad="76200" dist="38100" dir="5400000" algn="ctr" rotWithShape="0">
                <a:srgbClr val="E85D4C">
                  <a:alpha val="22500"/>
                </a:srgbClr>
              </a:outerShdw>
            </a:effectLst>
          </p:spPr>
        </p:sp>
        <p:sp>
          <p:nvSpPr>
            <p:cNvPr id="27" name="TextBox 27"/>
            <p:cNvSpPr txBox="1"/>
            <p:nvPr/>
          </p:nvSpPr>
          <p:spPr>
            <a:xfrm>
              <a:off x="4876193" y="20955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65420" y="208883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构建敏捷迭代机制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762500" y="25241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F1F3F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48212" y="278368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打破部门壁垒，组建跨职能敏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48212" y="305038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捷小组，快速响应市场变化，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48212" y="3317081"/>
              <a:ext cx="1776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将产品验证周期缩短30%。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62500" y="4953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37760" y="510921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🚀 建议落地行动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39665" y="5411152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Arial"/>
                  <a:ea typeface="Microsoft YaHei"/>
                  <a:cs typeface="Arial"/>
                </a:rPr>
                <a:t>1. 全面推行双周迭代开发模式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9665" y="5677852"/>
              <a:ext cx="1902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Arial"/>
                  <a:ea typeface="Microsoft YaHei"/>
                  <a:cs typeface="Arial"/>
                </a:rPr>
                <a:t>2. 设立年度创新孵化专项基金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572500" y="1714500"/>
            <a:ext cx="3429000" cy="4572000"/>
            <a:chOff x="8572500" y="1714500"/>
            <a:chExt cx="3429000" cy="4572000"/>
          </a:xfrm>
        </p:grpSpPr>
        <p:sp>
          <p:nvSpPr>
            <p:cNvPr id="38" name="Rectangle 38"/>
            <p:cNvSpPr/>
            <p:nvPr/>
          </p:nvSpPr>
          <p:spPr>
            <a:xfrm>
              <a:off x="8572500" y="1714500"/>
              <a:ext cx="3429000" cy="4572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ctr" rotWithShape="0">
                <a:srgbClr val="1E3A5F">
                  <a:alpha val="4500"/>
                </a:srgbClr>
              </a:outerShdw>
            </a:effectLst>
          </p:spPr>
        </p:sp>
        <p:sp>
          <p:nvSpPr>
            <p:cNvPr id="39" name="Freeform 39"/>
            <p:cNvSpPr/>
            <p:nvPr/>
          </p:nvSpPr>
          <p:spPr>
            <a:xfrm>
              <a:off x="8572500" y="1714500"/>
              <a:ext cx="3429000" cy="142875"/>
            </a:xfrm>
            <a:custGeom>
              <a:avLst/>
              <a:gdLst/>
              <a:ahLst/>
              <a:cxnLst/>
              <a:rect l="l" t="t" r="r" b="b"/>
              <a:pathLst>
                <a:path w="3429000" h="142875">
                  <a:moveTo>
                    <a:pt x="0" y="114300"/>
                  </a:moveTo>
                  <a:cubicBezTo>
                    <a:pt x="0" y="38100"/>
                    <a:pt x="38100" y="0"/>
                    <a:pt x="114300" y="0"/>
                  </a:cubicBez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E85D4C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743950" y="1981200"/>
              <a:ext cx="419100" cy="419100"/>
            </a:xfrm>
            <a:prstGeom prst="ellipse">
              <a:avLst/>
            </a:prstGeom>
            <a:solidFill>
              <a:srgbClr val="E85D4C"/>
            </a:solidFill>
            <a:ln>
              <a:noFill/>
            </a:ln>
            <a:effectLst>
              <a:outerShdw blurRad="76200" dist="38100" dir="5400000" algn="ctr" rotWithShape="0">
                <a:srgbClr val="E85D4C">
                  <a:alpha val="225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8876693" y="20955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5920" y="20888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重塑客户体验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763000" y="25241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F1F3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48712" y="278368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从售前到售后，优化每一个触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48712" y="305038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点的交互体验，利用个性化推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48712" y="331708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757D"/>
                  </a:solidFill>
                  <a:latin typeface="Arial"/>
                  <a:ea typeface="Microsoft YaHei"/>
                  <a:cs typeface="Arial"/>
                </a:rPr>
                <a:t>荐提升用户忠诚度与复购率。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63000" y="4953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38260" y="510921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🚀 建议落地行动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40165" y="5411152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Arial"/>
                  <a:ea typeface="Microsoft YaHei"/>
                  <a:cs typeface="Arial"/>
                </a:rPr>
                <a:t>1. 开展全渠道服务触点升级改造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40165" y="5677852"/>
              <a:ext cx="18819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Arial"/>
                  <a:ea typeface="Microsoft YaHei"/>
                  <a:cs typeface="Arial"/>
                </a:rPr>
                <a:t>2. 引入AI智能客服与推荐引擎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571500" y="6524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9ECE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457474" y="6609874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DB5BD"/>
                </a:solidFill>
                <a:latin typeface="Arial"/>
                <a:ea typeface="Microsoft YaHei"/>
                <a:cs typeface="Arial"/>
              </a:rPr>
              <a:t>战略调研 · 第 07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0F213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FFFFFF"/>
            </a:fgClr>
            <a:bgClr>
              <a:srgbClr val="FFFFFF"/>
            </a:bgClr>
          </a:patt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-285750"/>
            <a:ext cx="11144250" cy="7334250"/>
            <a:chOff x="571500" y="-285750"/>
            <a:chExt cx="11144250" cy="7334250"/>
          </a:xfrm>
        </p:grpSpPr>
        <p:sp>
          <p:nvSpPr>
            <p:cNvPr id="4" name="Ellipse 4"/>
            <p:cNvSpPr/>
            <p:nvPr/>
          </p:nvSpPr>
          <p:spPr>
            <a:xfrm>
              <a:off x="8286750" y="-285750"/>
              <a:ext cx="3429000" cy="3429000"/>
            </a:xfrm>
            <a:prstGeom prst="ellipse">
              <a:avLst/>
            </a:prstGeom>
            <a:noFill/>
            <a:ln w="9525">
              <a:solidFill>
                <a:srgbClr val="E85D4C">
                  <a:alpha val="12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8667750" y="95250"/>
              <a:ext cx="2667000" cy="2667000"/>
            </a:xfrm>
            <a:prstGeom prst="ellipse">
              <a:avLst/>
            </a:prstGeom>
            <a:noFill/>
            <a:ln w="19050">
              <a:solidFill>
                <a:srgbClr val="E85D4C">
                  <a:alpha val="24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048750" y="476250"/>
              <a:ext cx="1905000" cy="1905000"/>
            </a:xfrm>
            <a:prstGeom prst="ellipse">
              <a:avLst/>
            </a:prstGeom>
            <a:noFill/>
            <a:ln w="38100">
              <a:solidFill>
                <a:srgbClr val="E85D4C">
                  <a:alpha val="36000"/>
                </a:srgbClr>
              </a:solidFill>
              <a:custDash>
                <a:ds d="375000" sp="500000"/>
              </a:custDash>
            </a:ln>
          </p:spPr>
        </p:sp>
        <p:sp>
          <p:nvSpPr>
            <p:cNvPr id="7" name="Polygon 7"/>
            <p:cNvSpPr/>
            <p:nvPr/>
          </p:nvSpPr>
          <p:spPr>
            <a:xfrm>
              <a:off x="571500" y="5905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500" y="0"/>
                  </a:moveTo>
                  <a:lnTo>
                    <a:pt x="1143000" y="571500"/>
                  </a:lnTo>
                  <a:lnTo>
                    <a:pt x="571500" y="1143000"/>
                  </a:lnTo>
                  <a:lnTo>
                    <a:pt x="0" y="571500"/>
                  </a:lnTo>
                  <a:close/>
                </a:path>
              </a:pathLst>
            </a:custGeom>
            <a:noFill/>
            <a:ln w="9525">
              <a:solidFill>
                <a:srgbClr val="E85D4C">
                  <a:alpha val="18000"/>
                </a:srgbClr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857250" y="619125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lnTo>
                    <a:pt x="571500" y="285750"/>
                  </a:lnTo>
                  <a:lnTo>
                    <a:pt x="285750" y="571500"/>
                  </a:lnTo>
                  <a:lnTo>
                    <a:pt x="0" y="285750"/>
                  </a:lnTo>
                  <a:close/>
                </a:path>
              </a:pathLst>
            </a:custGeom>
            <a:gradFill>
              <a:gsLst>
                <a:gs pos="0">
                  <a:srgbClr val="E85D4C">
                    <a:alpha val="24000"/>
                  </a:srgbClr>
                </a:gs>
                <a:gs pos="100000">
                  <a:srgbClr val="FF7F6E">
                    <a:alpha val="24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9" name="Polyline 9"/>
            <p:cNvSpPr/>
            <p:nvPr/>
          </p:nvSpPr>
          <p:spPr>
            <a:xfrm>
              <a:off x="762000" y="1714500"/>
              <a:ext cx="10287000" cy="4000500"/>
            </a:xfrm>
            <a:custGeom>
              <a:avLst/>
              <a:gdLst/>
              <a:ahLst/>
              <a:cxnLst/>
              <a:rect l="l" t="t" r="r" b="b"/>
              <a:pathLst>
                <a:path w="10287000" h="4000500">
                  <a:moveTo>
                    <a:pt x="0" y="4000500"/>
                  </a:moveTo>
                  <a:lnTo>
                    <a:pt x="1143000" y="3524250"/>
                  </a:lnTo>
                  <a:lnTo>
                    <a:pt x="2286000" y="3810000"/>
                  </a:lnTo>
                  <a:lnTo>
                    <a:pt x="3429000" y="2857500"/>
                  </a:lnTo>
                  <a:lnTo>
                    <a:pt x="4572000" y="3238500"/>
                  </a:lnTo>
                  <a:lnTo>
                    <a:pt x="5715000" y="1905000"/>
                  </a:lnTo>
                  <a:lnTo>
                    <a:pt x="6858000" y="2286000"/>
                  </a:lnTo>
                  <a:lnTo>
                    <a:pt x="8001000" y="952500"/>
                  </a:lnTo>
                  <a:lnTo>
                    <a:pt x="9144000" y="1333500"/>
                  </a:lnTo>
                  <a:lnTo>
                    <a:pt x="10287000" y="0"/>
                  </a:lnTo>
                </a:path>
              </a:pathLst>
            </a:custGeom>
            <a:noFill/>
            <a:ln w="19050" cap="rnd">
              <a:solidFill>
                <a:srgbClr val="E85D4C">
                  <a:alpha val="18000"/>
                </a:srgbClr>
              </a:solidFill>
              <a:round/>
            </a:ln>
          </p:spPr>
        </p:sp>
        <p:sp>
          <p:nvSpPr>
            <p:cNvPr id="10" name="Polyline 10"/>
            <p:cNvSpPr/>
            <p:nvPr/>
          </p:nvSpPr>
          <p:spPr>
            <a:xfrm>
              <a:off x="11049000" y="171450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0" y="0"/>
                  </a:moveTo>
                  <a:lnTo>
                    <a:pt x="95250" y="95250"/>
                  </a:lnTo>
                  <a:lnTo>
                    <a:pt x="0" y="190500"/>
                  </a:lnTo>
                </a:path>
              </a:pathLst>
            </a:custGeom>
            <a:noFill/>
            <a:ln w="19050" cap="rnd">
              <a:solidFill>
                <a:srgbClr val="E85D4C">
                  <a:alpha val="30000"/>
                </a:srgbClr>
              </a:solidFill>
              <a:round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35330" y="725805"/>
            <a:ext cx="641414" cy="436245"/>
            <a:chOff x="735330" y="725805"/>
            <a:chExt cx="641414" cy="436245"/>
          </a:xfrm>
        </p:grpSpPr>
        <p:sp>
          <p:nvSpPr>
            <p:cNvPr id="12" name="TextBox 12"/>
            <p:cNvSpPr txBox="1"/>
            <p:nvPr/>
          </p:nvSpPr>
          <p:spPr>
            <a:xfrm>
              <a:off x="735330" y="725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结语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123950"/>
              <a:ext cx="4572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5D4C"/>
                </a:gs>
                <a:gs pos="100000">
                  <a:srgbClr val="FF7F6E"/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2153126" y="2867978"/>
            <a:ext cx="7885748" cy="1184910"/>
            <a:chOff x="2153126" y="2867978"/>
            <a:chExt cx="7885748" cy="1184910"/>
          </a:xfrm>
        </p:grpSpPr>
        <p:sp>
          <p:nvSpPr>
            <p:cNvPr id="15" name="TextBox 15"/>
            <p:cNvSpPr txBox="1"/>
            <p:nvPr/>
          </p:nvSpPr>
          <p:spPr>
            <a:xfrm>
              <a:off x="2153126" y="2867978"/>
              <a:ext cx="788574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以数据为驱动，以用户为核心，本次调研深刻洞察了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93169" y="3534728"/>
              <a:ext cx="72056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数字化浪潮下的关键增长机遇与战略转型方向。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0" y="4659630"/>
            <a:ext cx="1524000" cy="802958"/>
            <a:chOff x="5334000" y="4659630"/>
            <a:chExt cx="1524000" cy="802958"/>
          </a:xfrm>
        </p:grpSpPr>
        <p:sp>
          <p:nvSpPr>
            <p:cNvPr id="18" name="Line 18"/>
            <p:cNvSpPr/>
            <p:nvPr/>
          </p:nvSpPr>
          <p:spPr>
            <a:xfrm>
              <a:off x="5334000" y="4667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E85D4C">
                  <a:alpha val="6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70608" y="4659630"/>
              <a:ext cx="125078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谢 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7800" y="5188268"/>
              <a:ext cx="916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C9BAE"/>
                  </a:solidFill>
                  <a:latin typeface="Arial"/>
                  <a:ea typeface="Microsoft YaHei"/>
                  <a:cs typeface="Arial"/>
                </a:rPr>
                <a:t>THANK YOU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25391" y="6363652"/>
            <a:ext cx="2217944" cy="403860"/>
            <a:chOff x="9225391" y="6363652"/>
            <a:chExt cx="2217944" cy="403860"/>
          </a:xfrm>
        </p:grpSpPr>
        <p:sp>
          <p:nvSpPr>
            <p:cNvPr id="22" name="TextBox 22"/>
            <p:cNvSpPr txBox="1"/>
            <p:nvPr/>
          </p:nvSpPr>
          <p:spPr>
            <a:xfrm>
              <a:off x="9225391" y="6363652"/>
              <a:ext cx="2217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A8F"/>
                  </a:solidFill>
                  <a:latin typeface="Segoe UI"/>
                  <a:ea typeface="Microsoft YaHei"/>
                  <a:cs typeface="Segoe UI"/>
                </a:rPr>
                <a:t>CONFIDENTIAL - RESEARCH REPORT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84511" y="65541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A8F"/>
                  </a:solidFill>
                  <a:latin typeface="Segoe UI"/>
                  <a:ea typeface="Microsoft YaHei"/>
                  <a:cs typeface="Segoe UI"/>
                </a:rPr>
                <a:t>INTERNAL USE ONLY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4" grpId="0"/>
      <p:bldP spid="17" grpId="0"/>
      <p:bldP spid="21" grpId="0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